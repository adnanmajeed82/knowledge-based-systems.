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AB74-9DEB-611D-7BB0-FB67B9988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9AFAD-A5A9-AD88-E977-9BF2E6DA9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48444-9285-099E-F01F-C47D4D72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DE552-8F5A-7342-BD7C-34004586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D88A7-3DCB-616F-3E8E-B08F0A7B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5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3A47-4BBE-D500-164C-3FB63F2B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62C7-320F-889D-AD60-F0D4DA95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F2EC2-08C5-DF2D-360F-9C811E2D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A108B-F6A6-FA20-9E25-EF5644DB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6410-FCC1-7BD2-BF43-0F540CE02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4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8496-32B8-0210-0A6E-54CF5A8E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8AF8B-6E7A-AEA6-254F-63E31226B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539E-1143-2D8E-1490-3E30EA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29358-F8BD-98E6-831E-5114DC1B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2225-5DB0-0014-AF54-5F176CCC8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4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C0007-C740-1E8F-5BB7-3697D76B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2C0C0-0AB8-33A0-610A-33B91D3F9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07AA0-AD4F-0D0E-E5E1-8F25095BB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E1E84-B7A0-167D-B0F7-DBA254C9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5B523-5FFB-FDAF-70FA-9BDAD8666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469A3-B9C9-0EEF-EAF8-40C19D73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9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52AC-22B6-3666-2916-5B1DC60E9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AF76B-10AE-DC21-3812-DD24CF283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CCE9E-4D47-7C83-59BF-64FBF9C2B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6156F-29EB-64E3-3AF5-31D330EDE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328AE-9A87-79ED-130D-6700C01BE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5A0A7-99A9-0541-B23A-31A80DBB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3C3D6-CFD8-F175-46A2-80CC4026F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29654-8BCF-E830-546B-4B1238D0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FBEB-FF8D-D0D2-DF76-89C0D967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8C04C7-3FBB-15C5-8EE4-2FA7B367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34262-4038-FD34-87AC-69341F59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9ACCC-7C6A-0886-D99A-BCFDD709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28E9A-D757-E21F-B5D8-FBFFD9A1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9BDB5-7039-07B1-9E1D-0960B620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239DB-46AB-CC11-C932-5B36F809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91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E1C6-F07C-9661-332F-B8AF1A71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11593-71C3-DD50-4343-A1A4891A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43BB2-756F-FD73-0895-22596051D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BD5D1-1BDD-84C7-2091-A856755E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C6065-287C-C0E5-2838-8A7F9E0D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BDFEB-BA4B-6030-C9B8-DEA57B34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6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D252-18CB-8B9B-EF57-3E2AF0E9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577572-431D-F148-9D48-2173D042B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5A317-13FE-1B11-5F6A-927A5ACC6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6ABE4-889C-CDDE-CF8B-E1A787CB5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2C968-AA9D-11FA-E2FD-453F540C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9F8ED-A447-2543-D520-9EC82325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1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5163-07D0-F3EB-4585-FB7C4FC1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C7956-84EE-4087-B10F-E0BD6CFEC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BE556-CAC4-0B3B-185D-8DA81DF1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F464E-BD47-3F0B-15CD-3B51B698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7C624-A629-ABC0-A69A-0BBAC41D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3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E4A2B-6DB0-AABD-79A2-282575CB0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07287-E5CF-C9FA-479A-D7246DAB6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65DFF-E0BD-7419-77EA-568D359A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68777-1AF8-67C1-675F-D34C4CBA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E86D3-3A65-95A1-8390-413F0159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195A3-95EA-D62A-DD57-3608B8FC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6789A-97BA-D1A7-957B-B0BE79DD8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1F5E-C2D8-6480-87F2-A2A621786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2C4F8-D2C1-4AFE-88BC-042E671CE7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FA14-49B0-02EC-F788-29BAABF6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88443-1B21-73A6-5473-3C4D9233C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F652A-EE38-48A4-A154-205CEDE94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4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5821-5B4E-B9FF-F219-C33E24453D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Working of LLM (Large Language Models)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12AEA-70D7-3CD1-B69F-62E0C58264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scientist, AI Engineer , Researcher </a:t>
            </a:r>
          </a:p>
        </p:txBody>
      </p:sp>
    </p:spTree>
    <p:extLst>
      <p:ext uri="{BB962C8B-B14F-4D97-AF65-F5344CB8AC3E}">
        <p14:creationId xmlns:p14="http://schemas.microsoft.com/office/powerpoint/2010/main" val="33775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C8A4-B6C1-DF2A-412E-13DE3DF5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Introduction to LLM (Large Language Models)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648C9-EFF0-B7F6-8506-19DA70B80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Large Language Model (LLM)</a:t>
            </a:r>
            <a:r>
              <a:rPr lang="en-US" dirty="0"/>
              <a:t> is an AI system trained on massive text data to understand and generate human-like language.</a:t>
            </a:r>
          </a:p>
          <a:p>
            <a:r>
              <a:rPr lang="en-US" dirty="0"/>
              <a:t>Examples include:</a:t>
            </a:r>
          </a:p>
          <a:p>
            <a:r>
              <a:rPr lang="en-US" dirty="0"/>
              <a:t>ChatGPT </a:t>
            </a:r>
          </a:p>
          <a:p>
            <a:r>
              <a:rPr lang="en-US" dirty="0"/>
              <a:t>Claude </a:t>
            </a:r>
          </a:p>
          <a:p>
            <a:r>
              <a:rPr lang="en-US" dirty="0"/>
              <a:t>Google Gemini </a:t>
            </a:r>
          </a:p>
          <a:p>
            <a:r>
              <a:rPr lang="en-US" b="1" dirty="0"/>
              <a:t>Key Characteristics</a:t>
            </a:r>
          </a:p>
          <a:p>
            <a:r>
              <a:rPr lang="en-US" dirty="0"/>
              <a:t>Understands natural language </a:t>
            </a:r>
          </a:p>
          <a:p>
            <a:r>
              <a:rPr lang="en-US" dirty="0"/>
              <a:t>Generates text, code, and answers </a:t>
            </a:r>
          </a:p>
          <a:p>
            <a:r>
              <a:rPr lang="en-US" dirty="0"/>
              <a:t>Learns patterns, not facts directly </a:t>
            </a:r>
          </a:p>
          <a:p>
            <a:r>
              <a:rPr lang="en-US" dirty="0"/>
              <a:t>Based on deep learning (Transformers)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197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AC5C-5278-82F2-ABC6-5EBD9390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C6C3-78D8-A000-89A7-FA9AF4997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👉 Core concept:</a:t>
            </a:r>
            <a:br>
              <a:rPr lang="en-US" dirty="0"/>
            </a:br>
            <a:r>
              <a:rPr lang="en-US" dirty="0"/>
              <a:t>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418282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AC9F-D0C0-9A7A-F745-29649378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AF967-9CFE-9979-6C5D-681281B28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LLM Deployment (How LLMs are Used in Real Systems)</a:t>
            </a:r>
          </a:p>
          <a:p>
            <a:r>
              <a:rPr lang="en-US" dirty="0"/>
              <a:t>Deployment means making the LLM available for real-world use.</a:t>
            </a:r>
          </a:p>
          <a:p>
            <a:r>
              <a:rPr lang="en-US" b="1" dirty="0"/>
              <a:t>A. Types of Deployment</a:t>
            </a:r>
          </a:p>
          <a:p>
            <a:r>
              <a:rPr lang="en-US" b="1" dirty="0"/>
              <a:t>1. Cloud-Based Deployment</a:t>
            </a:r>
          </a:p>
          <a:p>
            <a:r>
              <a:rPr lang="en-US" dirty="0"/>
              <a:t>Model hosted on cloud servers </a:t>
            </a:r>
          </a:p>
          <a:p>
            <a:r>
              <a:rPr lang="en-US" dirty="0"/>
              <a:t>Access via APIs </a:t>
            </a:r>
          </a:p>
          <a:p>
            <a:r>
              <a:rPr lang="en-US" dirty="0"/>
              <a:t>Example: using OpenAI API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33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0E93-CE50-20A7-0621-DEC9EB5C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7212A-8CB6-A6B8-CCF7-AB87C03A6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On-Premise Deployment</a:t>
            </a:r>
          </a:p>
          <a:p>
            <a:r>
              <a:rPr lang="en-US" dirty="0"/>
              <a:t>Installed on local servers </a:t>
            </a:r>
          </a:p>
          <a:p>
            <a:r>
              <a:rPr lang="en-US" dirty="0"/>
              <a:t>Used in banks, government, secure systems </a:t>
            </a:r>
          </a:p>
          <a:p>
            <a:r>
              <a:rPr lang="en-US" dirty="0"/>
              <a:t>✔ Full data control</a:t>
            </a:r>
            <a:br>
              <a:rPr lang="en-US" dirty="0"/>
            </a:br>
            <a:r>
              <a:rPr lang="en-US" dirty="0"/>
              <a:t>❌ Requires high hardware (GPU)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48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FF03-A5AA-77B9-23ED-348A4434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DB092-0B27-8D15-3104-E08152FD9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Edge Deployment</a:t>
            </a:r>
          </a:p>
          <a:p>
            <a:r>
              <a:rPr lang="en-US" dirty="0"/>
              <a:t>Runs on mobile or small devices </a:t>
            </a:r>
          </a:p>
          <a:p>
            <a:r>
              <a:rPr lang="en-US" dirty="0"/>
              <a:t>Lightweight models </a:t>
            </a:r>
          </a:p>
          <a:p>
            <a:r>
              <a:rPr lang="en-US" dirty="0"/>
              <a:t>✔ Fast response</a:t>
            </a:r>
            <a:br>
              <a:rPr lang="en-US" dirty="0"/>
            </a:br>
            <a:r>
              <a:rPr lang="en-US" dirty="0"/>
              <a:t>✔ Offline capability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2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FB19-C492-3623-7FDD-56384502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917F7-C895-2545-7095-80B37491F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. Deployment Architecture</a:t>
            </a:r>
          </a:p>
          <a:p>
            <a:r>
              <a:rPr lang="en-US" dirty="0"/>
              <a:t>Typical flow:</a:t>
            </a:r>
          </a:p>
          <a:p>
            <a:r>
              <a:rPr lang="en-US" dirty="0"/>
              <a:t>User → Frontend → API → LLM →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49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7DE0-B0B7-ED18-2351-F86317DE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D4507-49AE-BC43-9D82-1B4E536BB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3. Outcomes of LLMs (What They Can Do)</a:t>
            </a:r>
          </a:p>
          <a:p>
            <a:r>
              <a:rPr lang="en-US" dirty="0"/>
              <a:t>LLMs produce powerful outcomes across industries:</a:t>
            </a:r>
          </a:p>
          <a:p>
            <a:r>
              <a:rPr lang="en-US" b="1" dirty="0"/>
              <a:t>A. Business</a:t>
            </a:r>
          </a:p>
          <a:p>
            <a:r>
              <a:rPr lang="en-US" dirty="0"/>
              <a:t>Customer support chatbots </a:t>
            </a:r>
          </a:p>
          <a:p>
            <a:r>
              <a:rPr lang="en-US" dirty="0"/>
              <a:t>Email automation </a:t>
            </a:r>
          </a:p>
          <a:p>
            <a:r>
              <a:rPr lang="en-US" dirty="0"/>
              <a:t>Report generation </a:t>
            </a:r>
          </a:p>
          <a:p>
            <a:r>
              <a:rPr lang="en-US" b="1" dirty="0"/>
              <a:t>B. Education</a:t>
            </a:r>
          </a:p>
          <a:p>
            <a:r>
              <a:rPr lang="en-US" dirty="0"/>
              <a:t>Lecture notes </a:t>
            </a:r>
          </a:p>
          <a:p>
            <a:r>
              <a:rPr lang="en-US" dirty="0"/>
              <a:t>Assignment help </a:t>
            </a:r>
          </a:p>
          <a:p>
            <a:r>
              <a:rPr lang="en-US" dirty="0"/>
              <a:t>Tutoring systems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48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86DB-6784-64DC-A065-A8A6DFC2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F4303-E672-850C-63C4-95199E3F7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C. Software Development</a:t>
            </a:r>
          </a:p>
          <a:p>
            <a:r>
              <a:rPr lang="en-US" dirty="0"/>
              <a:t>Code generation </a:t>
            </a:r>
          </a:p>
          <a:p>
            <a:r>
              <a:rPr lang="en-US" dirty="0"/>
              <a:t>Debugging </a:t>
            </a:r>
          </a:p>
          <a:p>
            <a:r>
              <a:rPr lang="en-US" dirty="0"/>
              <a:t>Documentation </a:t>
            </a:r>
          </a:p>
          <a:p>
            <a:r>
              <a:rPr lang="en-US" b="1" dirty="0"/>
              <a:t>D. Healthcare</a:t>
            </a:r>
          </a:p>
          <a:p>
            <a:r>
              <a:rPr lang="en-US" dirty="0"/>
              <a:t>Medical text analysis </a:t>
            </a:r>
          </a:p>
          <a:p>
            <a:r>
              <a:rPr lang="en-US" dirty="0"/>
              <a:t>Report summarization </a:t>
            </a:r>
          </a:p>
          <a:p>
            <a:r>
              <a:rPr lang="en-US" b="1" dirty="0"/>
              <a:t>E. AI Agents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325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6BBD-FD53-134F-3DB5-C7E35805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2E0BB-A846-7CC0-2843-DA508C096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act as the brain of intelligent agents:</a:t>
            </a:r>
          </a:p>
          <a:p>
            <a:r>
              <a:rPr lang="en-US" dirty="0"/>
              <a:t>Task automation </a:t>
            </a:r>
          </a:p>
          <a:p>
            <a:r>
              <a:rPr lang="en-US" dirty="0"/>
              <a:t>Decision making </a:t>
            </a:r>
          </a:p>
          <a:p>
            <a:r>
              <a:rPr lang="en-US" dirty="0"/>
              <a:t>Multi-step reasoning </a:t>
            </a:r>
          </a:p>
          <a:p>
            <a:r>
              <a:rPr lang="en-US" dirty="0"/>
              <a:t>👉 Related concept:</a:t>
            </a:r>
            <a:br>
              <a:rPr lang="en-US" dirty="0"/>
            </a:br>
            <a:r>
              <a:rPr lang="en-US" dirty="0"/>
              <a:t>Artificial Intelligence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49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A066E-016E-1CED-B1AB-4804E2F2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67120-4010-E2AB-BF27-141BB6CB9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4. LLM Backend (How It Works Behind the Scenes)</a:t>
            </a:r>
          </a:p>
          <a:p>
            <a:r>
              <a:rPr lang="en-US" dirty="0"/>
              <a:t>Backend is the </a:t>
            </a:r>
            <a:r>
              <a:rPr lang="en-US" b="1" dirty="0"/>
              <a:t>technical engine</a:t>
            </a:r>
            <a:r>
              <a:rPr lang="en-US" dirty="0"/>
              <a:t> that powers LLMs.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A. Core Components</a:t>
            </a:r>
          </a:p>
          <a:p>
            <a:r>
              <a:rPr lang="en-US" b="1" dirty="0"/>
              <a:t>1. Model Layer</a:t>
            </a:r>
          </a:p>
          <a:p>
            <a:r>
              <a:rPr lang="en-US" dirty="0"/>
              <a:t>Transformer-based neural network </a:t>
            </a:r>
          </a:p>
          <a:p>
            <a:r>
              <a:rPr lang="en-US" dirty="0"/>
              <a:t>Billions of parameters </a:t>
            </a:r>
          </a:p>
          <a:p>
            <a:r>
              <a:rPr lang="en-US" dirty="0"/>
              <a:t>👉 Transformer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6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A89C-9998-F065-A61A-F004B808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C8B2-1537-5517-F880-D5FC305A4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Training Infrastructure</a:t>
            </a:r>
          </a:p>
          <a:p>
            <a:r>
              <a:rPr lang="en-US" dirty="0"/>
              <a:t>GPUs / TPUs </a:t>
            </a:r>
          </a:p>
          <a:p>
            <a:r>
              <a:rPr lang="en-US" dirty="0"/>
              <a:t>Distributed computing </a:t>
            </a:r>
          </a:p>
          <a:p>
            <a:r>
              <a:rPr lang="en-US" dirty="0"/>
              <a:t>Huge datasets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API Layer</a:t>
            </a:r>
          </a:p>
          <a:p>
            <a:r>
              <a:rPr lang="en-US" dirty="0"/>
              <a:t>Connects frontend to model </a:t>
            </a:r>
          </a:p>
          <a:p>
            <a:r>
              <a:rPr lang="en-US" dirty="0"/>
              <a:t>Handles requests and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47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D95B-8B0E-DB4E-B4BF-536C91C1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677B3-E3D5-5104-6943-E11016C64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4. Database / Memory</a:t>
            </a:r>
          </a:p>
          <a:p>
            <a:r>
              <a:rPr lang="en-US" dirty="0"/>
              <a:t>Stores: </a:t>
            </a:r>
          </a:p>
          <a:p>
            <a:pPr lvl="1"/>
            <a:r>
              <a:rPr lang="en-US" dirty="0"/>
              <a:t>User data </a:t>
            </a:r>
          </a:p>
          <a:p>
            <a:pPr lvl="1"/>
            <a:r>
              <a:rPr lang="en-US" dirty="0"/>
              <a:t>Context </a:t>
            </a:r>
          </a:p>
          <a:p>
            <a:pPr lvl="1"/>
            <a:r>
              <a:rPr lang="en-US" dirty="0"/>
              <a:t>Logs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Prompt Processing</a:t>
            </a:r>
          </a:p>
          <a:p>
            <a:r>
              <a:rPr lang="en-US" dirty="0"/>
              <a:t>Input formatting </a:t>
            </a:r>
          </a:p>
          <a:p>
            <a:r>
              <a:rPr lang="en-US" dirty="0"/>
              <a:t>Context injection </a:t>
            </a:r>
          </a:p>
          <a:p>
            <a:r>
              <a:rPr lang="en-US" dirty="0"/>
              <a:t>Tokenization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402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A288-573D-6B97-2FA0-4DA76C09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25E3F-DF53-BCF9-AA16-A2A4392E1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B. Backend Workflow</a:t>
            </a:r>
          </a:p>
          <a:p>
            <a:r>
              <a:rPr lang="en-US" dirty="0"/>
              <a:t>User sends query </a:t>
            </a:r>
          </a:p>
          <a:p>
            <a:r>
              <a:rPr lang="en-US" dirty="0"/>
              <a:t>API receives request </a:t>
            </a:r>
          </a:p>
          <a:p>
            <a:r>
              <a:rPr lang="en-US" dirty="0"/>
              <a:t>Input processed (tokenized) </a:t>
            </a:r>
          </a:p>
          <a:p>
            <a:r>
              <a:rPr lang="en-US" dirty="0"/>
              <a:t>Model generates output </a:t>
            </a:r>
          </a:p>
          <a:p>
            <a:r>
              <a:rPr lang="en-US" dirty="0"/>
              <a:t>Response sent back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C. Optimization Techniques</a:t>
            </a:r>
          </a:p>
          <a:p>
            <a:r>
              <a:rPr lang="en-US" dirty="0"/>
              <a:t>Caching responses </a:t>
            </a:r>
          </a:p>
          <a:p>
            <a:r>
              <a:rPr lang="en-US" dirty="0"/>
              <a:t>Load balancing </a:t>
            </a:r>
          </a:p>
          <a:p>
            <a:r>
              <a:rPr lang="en-US" dirty="0"/>
              <a:t>Model compression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73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35710-C318-12CD-CC6D-5F5F3458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DCD17-A25A-0CB4-B3BF-57C627A1F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Large Language Model (LLM)</a:t>
            </a:r>
            <a:r>
              <a:rPr lang="en-US" dirty="0"/>
              <a:t> is an advanced AI system that understands and generates human-like text. Popular examples include ChatGPT and Google Gemini. These models are built using deep learning techniques and trained on massive amounts of text data.</a:t>
            </a:r>
          </a:p>
        </p:txBody>
      </p:sp>
    </p:spTree>
    <p:extLst>
      <p:ext uri="{BB962C8B-B14F-4D97-AF65-F5344CB8AC3E}">
        <p14:creationId xmlns:p14="http://schemas.microsoft.com/office/powerpoint/2010/main" val="220959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E88C-329F-7C9A-4FD2-D136C2BC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E87AE-8D8F-33A5-DA27-C44D5B95F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 Training Phase (Learning Stage)</a:t>
            </a:r>
          </a:p>
          <a:p>
            <a:r>
              <a:rPr lang="en-US" dirty="0"/>
              <a:t>LLMs are trained on large datasets such as books, websites, and articles.</a:t>
            </a:r>
          </a:p>
          <a:p>
            <a:r>
              <a:rPr lang="en-US" dirty="0"/>
              <a:t>They learn </a:t>
            </a:r>
            <a:r>
              <a:rPr lang="en-US" b="1" dirty="0"/>
              <a:t>patterns of language</a:t>
            </a:r>
            <a:r>
              <a:rPr lang="en-US" dirty="0"/>
              <a:t> </a:t>
            </a:r>
          </a:p>
          <a:p>
            <a:r>
              <a:rPr lang="en-US" dirty="0"/>
              <a:t>Understand </a:t>
            </a:r>
            <a:r>
              <a:rPr lang="en-US" b="1" dirty="0"/>
              <a:t>grammar, context, and meaning</a:t>
            </a:r>
            <a:r>
              <a:rPr lang="en-US" dirty="0"/>
              <a:t> </a:t>
            </a:r>
          </a:p>
          <a:p>
            <a:r>
              <a:rPr lang="en-US" dirty="0"/>
              <a:t>Use neural networks, especially the </a:t>
            </a:r>
            <a:r>
              <a:rPr lang="en-US" b="1" dirty="0"/>
              <a:t>Transformer architecture</a:t>
            </a:r>
            <a:r>
              <a:rPr lang="en-US" dirty="0"/>
              <a:t> </a:t>
            </a:r>
          </a:p>
          <a:p>
            <a:r>
              <a:rPr lang="en-US" dirty="0"/>
              <a:t>👉 A key concept here is</a:t>
            </a:r>
            <a:br>
              <a:rPr lang="en-US" dirty="0"/>
            </a:br>
            <a:r>
              <a:rPr lang="en-US" dirty="0"/>
              <a:t>Transformer Model</a:t>
            </a:r>
            <a:br>
              <a:rPr lang="en-US" dirty="0"/>
            </a:br>
            <a:r>
              <a:rPr lang="en-US" dirty="0"/>
              <a:t>which helps the model process words in parallel and understand context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86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7ACD-CF84-53C9-B689-5431274A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Tokenization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EF2AB-9B56-4C66-3B5B-66A2117B5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</a:t>
            </a:r>
            <a:r>
              <a:rPr lang="en-US" dirty="0"/>
              <a:t>Before processing, text is broken into small units called </a:t>
            </a:r>
            <a:r>
              <a:rPr lang="en-US" b="1" dirty="0"/>
              <a:t>tokens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"Artificial Intelligence is powerful" →</a:t>
            </a:r>
            <a:br>
              <a:rPr lang="en-US" dirty="0"/>
            </a:br>
            <a:r>
              <a:rPr lang="en-US" dirty="0"/>
              <a:t>["Artificial", "Intelligence", "is", "powerful"]</a:t>
            </a:r>
          </a:p>
          <a:p>
            <a:r>
              <a:rPr lang="en-US" dirty="0"/>
              <a:t>Tokens can be words, </a:t>
            </a:r>
            <a:r>
              <a:rPr lang="en-US" dirty="0" err="1"/>
              <a:t>subwords</a:t>
            </a:r>
            <a:r>
              <a:rPr lang="en-US" dirty="0"/>
              <a:t>, or characters </a:t>
            </a:r>
          </a:p>
          <a:p>
            <a:r>
              <a:rPr lang="en-US" dirty="0"/>
              <a:t>Helps the model handle large vocabulary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328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35D9-CF99-9825-A3E4-078A8DD8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C7057-D814-AD47-9C69-6293973E9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Embedding (Understanding Words)</a:t>
            </a:r>
          </a:p>
          <a:p>
            <a:r>
              <a:rPr lang="en-US" dirty="0"/>
              <a:t>Each token is converted into a </a:t>
            </a:r>
            <a:r>
              <a:rPr lang="en-US" b="1" dirty="0"/>
              <a:t>vector (number representation)</a:t>
            </a:r>
            <a:r>
              <a:rPr lang="en-US" dirty="0"/>
              <a:t>.</a:t>
            </a:r>
          </a:p>
          <a:p>
            <a:r>
              <a:rPr lang="en-US" dirty="0"/>
              <a:t>👉 This uses</a:t>
            </a:r>
            <a:br>
              <a:rPr lang="en-US" dirty="0"/>
            </a:br>
            <a:r>
              <a:rPr lang="en-US" dirty="0"/>
              <a:t>Word Embeddings</a:t>
            </a:r>
          </a:p>
          <a:p>
            <a:r>
              <a:rPr lang="en-US" dirty="0"/>
              <a:t>Similar words have similar vectors </a:t>
            </a:r>
          </a:p>
          <a:p>
            <a:r>
              <a:rPr lang="en-US" dirty="0"/>
              <a:t>Helps model understand relationships (e.g., king ≈ queen)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79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4B69-7B20-355E-2C98-45DC8E5F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D253D-4BAE-A1CA-9C4D-CD547B254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Attention Mechanism</a:t>
            </a:r>
          </a:p>
          <a:p>
            <a:r>
              <a:rPr lang="en-US" dirty="0"/>
              <a:t>This is the core of LLMs.</a:t>
            </a:r>
          </a:p>
          <a:p>
            <a:r>
              <a:rPr lang="en-US" dirty="0"/>
              <a:t>👉 Called</a:t>
            </a:r>
            <a:br>
              <a:rPr lang="en-US" dirty="0"/>
            </a:br>
            <a:r>
              <a:rPr lang="en-US" dirty="0"/>
              <a:t>Self-Attention Mechanism</a:t>
            </a:r>
          </a:p>
          <a:p>
            <a:r>
              <a:rPr lang="en-US" dirty="0"/>
              <a:t>Model focuses on important words in a sentence </a:t>
            </a:r>
          </a:p>
          <a:p>
            <a:r>
              <a:rPr lang="en-US" dirty="0"/>
              <a:t>Understands context better 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"The </a:t>
            </a:r>
            <a:r>
              <a:rPr lang="en-US" b="1" dirty="0"/>
              <a:t>bank</a:t>
            </a:r>
            <a:r>
              <a:rPr lang="en-US" dirty="0"/>
              <a:t> of the river" vs "money in the </a:t>
            </a:r>
            <a:r>
              <a:rPr lang="en-US" b="1" dirty="0"/>
              <a:t>bank</a:t>
            </a:r>
            <a:r>
              <a:rPr lang="en-US" dirty="0"/>
              <a:t>"</a:t>
            </a:r>
            <a:br>
              <a:rPr lang="en-US" dirty="0"/>
            </a:br>
            <a:r>
              <a:rPr lang="en-US" dirty="0"/>
              <a:t>→ Model identifies correct meaning using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09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A848-4AD2-B71C-4621-FBD50B1E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E7623-D650-DE5B-4AC9-9C2BEF09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. Prediction Process</a:t>
            </a:r>
          </a:p>
          <a:p>
            <a:r>
              <a:rPr lang="en-US" dirty="0"/>
              <a:t>LLMs work by predicting the </a:t>
            </a:r>
            <a:r>
              <a:rPr lang="en-US" b="1" dirty="0"/>
              <a:t>next word/token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"I am going to the ___"</a:t>
            </a:r>
            <a:br>
              <a:rPr lang="en-US" dirty="0"/>
            </a:br>
            <a:r>
              <a:rPr lang="en-US" dirty="0"/>
              <a:t>→ Model predicts: "market", "school", etc.</a:t>
            </a:r>
          </a:p>
          <a:p>
            <a:r>
              <a:rPr lang="en-US" dirty="0"/>
              <a:t>This is repeated step-by-step to generate full sentences </a:t>
            </a:r>
          </a:p>
          <a:p>
            <a:r>
              <a:rPr lang="en-US" dirty="0"/>
              <a:t>Based on probability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764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6948-0653-DE85-E6A6-91A1FD0A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E4B8B-7BE8-6F05-99AE-621141191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Fine-Tuning</a:t>
            </a:r>
          </a:p>
          <a:p>
            <a:r>
              <a:rPr lang="en-US" dirty="0"/>
              <a:t>After general training, models are improved using:</a:t>
            </a:r>
          </a:p>
          <a:p>
            <a:r>
              <a:rPr lang="en-US" dirty="0"/>
              <a:t>Human feedback </a:t>
            </a:r>
          </a:p>
          <a:p>
            <a:r>
              <a:rPr lang="en-US" dirty="0"/>
              <a:t>Specific datasets </a:t>
            </a:r>
          </a:p>
          <a:p>
            <a:r>
              <a:rPr lang="en-US" dirty="0"/>
              <a:t>👉 Known as</a:t>
            </a:r>
            <a:br>
              <a:rPr lang="en-US" dirty="0"/>
            </a:br>
            <a:r>
              <a:rPr lang="en-US" dirty="0"/>
              <a:t>Reinforcement Learning with Human Feedback</a:t>
            </a:r>
          </a:p>
          <a:p>
            <a:r>
              <a:rPr lang="en-US" dirty="0"/>
              <a:t>This makes responses more accurate and safe.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203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92EF-2325-16AC-AA18-3922044C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9233-13B1-E681-DE08-4F99619D9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Inference (Using the Model)</a:t>
            </a:r>
          </a:p>
          <a:p>
            <a:r>
              <a:rPr lang="en-US" dirty="0"/>
              <a:t>When you ask a question:</a:t>
            </a:r>
          </a:p>
          <a:p>
            <a:r>
              <a:rPr lang="en-US" dirty="0"/>
              <a:t>Input is tokenized </a:t>
            </a:r>
          </a:p>
          <a:p>
            <a:r>
              <a:rPr lang="en-US" dirty="0"/>
              <a:t>Passed through neural network </a:t>
            </a:r>
          </a:p>
          <a:p>
            <a:r>
              <a:rPr lang="en-US" dirty="0"/>
              <a:t>Model predicts output </a:t>
            </a:r>
          </a:p>
          <a:p>
            <a:r>
              <a:rPr lang="en-US" dirty="0"/>
              <a:t>Response is generated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656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D565-E825-4978-2100-E68898669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A16F-FB2E-51DC-6F76-B028F7ADD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Flow</a:t>
            </a:r>
          </a:p>
          <a:p>
            <a:r>
              <a:rPr lang="en-US" dirty="0"/>
              <a:t>Input → Tokenization → Embedding → Attention → Prediction →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400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58A4-CB44-1696-19B8-0F4E947E1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FEB86-F1B4-C8A0-618A-F04765A55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Features of LLMs</a:t>
            </a:r>
          </a:p>
          <a:p>
            <a:r>
              <a:rPr lang="en-US" dirty="0"/>
              <a:t>Natural language understanding </a:t>
            </a:r>
          </a:p>
          <a:p>
            <a:r>
              <a:rPr lang="en-US" dirty="0"/>
              <a:t>Text generation </a:t>
            </a:r>
          </a:p>
          <a:p>
            <a:r>
              <a:rPr lang="en-US" dirty="0"/>
              <a:t>Translation </a:t>
            </a:r>
          </a:p>
          <a:p>
            <a:r>
              <a:rPr lang="en-US" dirty="0"/>
              <a:t>Question answering </a:t>
            </a:r>
          </a:p>
          <a:p>
            <a:r>
              <a:rPr lang="en-US" dirty="0"/>
              <a:t>Code 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70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1101-2ADD-573A-9C33-31B49B18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FB201-BEDA-D514-7EE8-BCA97826B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LLMs work by learning patterns in language using deep neural networks. They don’t “think” like humans but </a:t>
            </a:r>
            <a:r>
              <a:rPr lang="en-US" b="1" dirty="0"/>
              <a:t>predict text intelligently based on data and probabilities</a:t>
            </a:r>
            <a:r>
              <a:rPr lang="en-US" dirty="0"/>
              <a:t>, making them powerful tools in modern AI.</a:t>
            </a:r>
          </a:p>
          <a:p>
            <a:r>
              <a:rPr lang="en-US" b="1" dirty="0"/>
              <a:t> </a:t>
            </a:r>
          </a:p>
          <a:p>
            <a:r>
              <a:rPr lang="en-US" b="1" dirty="0"/>
              <a:t>LLM Introduction</a:t>
            </a:r>
            <a:r>
              <a:rPr lang="en-US" dirty="0"/>
              <a:t>: AI models that understand language </a:t>
            </a:r>
          </a:p>
          <a:p>
            <a:r>
              <a:rPr lang="en-US" b="1" dirty="0"/>
              <a:t>Deployment</a:t>
            </a:r>
            <a:r>
              <a:rPr lang="en-US" dirty="0"/>
              <a:t>: Cloud, local, edge environments </a:t>
            </a:r>
          </a:p>
          <a:p>
            <a:r>
              <a:rPr lang="en-US" b="1" dirty="0"/>
              <a:t>Outcomes</a:t>
            </a:r>
            <a:r>
              <a:rPr lang="en-US" dirty="0"/>
              <a:t>: Automation, intelligence, productivity </a:t>
            </a:r>
          </a:p>
          <a:p>
            <a:r>
              <a:rPr lang="en-US" b="1" dirty="0"/>
              <a:t>Backend</a:t>
            </a:r>
            <a:r>
              <a:rPr lang="en-US" dirty="0"/>
              <a:t>: Complex system of models, APIs, and infrastructure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87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859</Words>
  <Application>Microsoft Office PowerPoint</Application>
  <PresentationFormat>Widescreen</PresentationFormat>
  <Paragraphs>149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Working of LLM (Large Language Models)</vt:lpstr>
      <vt:lpstr>1. Introduction to LLM (Large Language Models)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Tokenization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29</cp:revision>
  <dcterms:created xsi:type="dcterms:W3CDTF">2026-03-27T07:33:15Z</dcterms:created>
  <dcterms:modified xsi:type="dcterms:W3CDTF">2026-03-27T07:38:43Z</dcterms:modified>
</cp:coreProperties>
</file>