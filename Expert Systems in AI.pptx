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2564-442D-F554-F07A-16C640BCF1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DC8C58-508B-EF76-027D-7742573691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8C0BCB-1D26-F12A-3AE6-6EA1F1520E02}"/>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CF62A9CB-F1CA-1106-37C6-A9E9374828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18DE1A-DE4E-AD76-5DDC-AA3AD7FB76A4}"/>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4252631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38BC-1B5E-02B8-F935-B225CD04B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13D3F0-DF2D-D450-40F6-122B8C1FF3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170A6-4AEA-2E11-F193-C7C1B814E2D0}"/>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3505CC12-AC93-D9CA-8B7E-7E7A124B7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1FE15-4438-E6EF-7664-2BB3F23F3AF9}"/>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294064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ED92-6149-F5E1-6EB2-953E5ADF63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362B34-50EF-EF24-73C4-077B41502D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42D4CD-6BA2-CCD4-6011-4B7B78FF18F1}"/>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3B22EE53-ADCA-C994-BFEA-FC1C43ED13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A4E7E-A133-D403-3DCD-AA3031B1C77E}"/>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2640524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B368-0BC3-67ED-E5D5-B131120124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4A469-19AD-CD96-FF4C-EDF447407B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D45D39-664D-EFBC-70F9-E63A7259F0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5E3E05-5AF5-629C-9C93-CE6D7D8E6AF8}"/>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6" name="Footer Placeholder 5">
            <a:extLst>
              <a:ext uri="{FF2B5EF4-FFF2-40B4-BE49-F238E27FC236}">
                <a16:creationId xmlns:a16="http://schemas.microsoft.com/office/drawing/2014/main" id="{AA6ECFB5-F671-CF15-B017-35E58918E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6332F3-C131-A621-9380-1782B0CD9416}"/>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3006049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9360F-8E35-FCA3-83BE-002A56B322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90E6D3-FA71-3E3E-6B94-8C6D398091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BE158C-7D84-D905-899D-92DC77F0AC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42B7CC-C884-65BE-012D-FE85EA5C28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5AD61A-8D54-744D-5A9C-C960BDAE63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2487E7-9704-490B-CE56-753536E81B4E}"/>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8" name="Footer Placeholder 7">
            <a:extLst>
              <a:ext uri="{FF2B5EF4-FFF2-40B4-BE49-F238E27FC236}">
                <a16:creationId xmlns:a16="http://schemas.microsoft.com/office/drawing/2014/main" id="{88FC6C99-1588-FE65-56E3-2C429C92EA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25F54D-34E7-E25C-FF8B-7A19479B7DF7}"/>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1404328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18AF-6D73-F6CF-D0E2-FB4C82C90D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DEB6F8-265A-91CD-1A6B-4B8F9FCBF615}"/>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4" name="Footer Placeholder 3">
            <a:extLst>
              <a:ext uri="{FF2B5EF4-FFF2-40B4-BE49-F238E27FC236}">
                <a16:creationId xmlns:a16="http://schemas.microsoft.com/office/drawing/2014/main" id="{B547A434-C946-93A6-EAA9-CCCBE9BD69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3E14CC-B052-A7C2-30B1-31A7DE95A531}"/>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235389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A908A8-E7C1-66B9-CE9B-EA9E0C971C35}"/>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3" name="Footer Placeholder 2">
            <a:extLst>
              <a:ext uri="{FF2B5EF4-FFF2-40B4-BE49-F238E27FC236}">
                <a16:creationId xmlns:a16="http://schemas.microsoft.com/office/drawing/2014/main" id="{E1650C16-C53B-3F06-BFB6-33864BEB91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8D5E85-E3BF-782E-49A9-203325850501}"/>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1169629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FEC29-8D99-F923-7073-FCF408199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508D94-C73A-25F8-C7A8-6BA271549B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A457AA-7D21-6F75-6681-2151B2D96B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C0B35F-87B8-C679-D320-CE4BFC87F63E}"/>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6" name="Footer Placeholder 5">
            <a:extLst>
              <a:ext uri="{FF2B5EF4-FFF2-40B4-BE49-F238E27FC236}">
                <a16:creationId xmlns:a16="http://schemas.microsoft.com/office/drawing/2014/main" id="{F9F10F98-FDD5-8B86-C28B-7F57CD70D0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FD688C-8DA5-5527-C449-0A7DAF2512E6}"/>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3397798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28D3D-E743-088F-3FC7-DF155ED3F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68FB0F-A04C-9768-ECD1-959F6AA06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DB1ADF-E3E5-4D4E-2A4D-B9D579131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89462-DDE3-07D0-BD0F-691AF197E9E3}"/>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6" name="Footer Placeholder 5">
            <a:extLst>
              <a:ext uri="{FF2B5EF4-FFF2-40B4-BE49-F238E27FC236}">
                <a16:creationId xmlns:a16="http://schemas.microsoft.com/office/drawing/2014/main" id="{B80177E3-F855-694D-1012-0166321B60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1E6520-EAC5-B3A6-F23B-D2376D41DDA1}"/>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3298135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B55FB-961B-BD03-EB78-9EFE81DE5F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B1C21B-E1F5-66A3-43AD-4EEACD325E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FA59CA-EFF7-EE1D-AF2F-4EA45A9FD2D2}"/>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8FF5885E-7891-A2C1-DFF6-E12E7E49AA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60A98-665B-29F2-B4AC-A0F390EE1762}"/>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2626444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CCD902-9099-DD6A-7A8C-1400FB5B7C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5B8E5A-AD26-68B1-3D23-FD32124908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73F148-770A-CF18-8BFD-45A36E5F6490}"/>
              </a:ext>
            </a:extLst>
          </p:cNvPr>
          <p:cNvSpPr>
            <a:spLocks noGrp="1"/>
          </p:cNvSpPr>
          <p:nvPr>
            <p:ph type="dt" sz="half" idx="10"/>
          </p:nvPr>
        </p:nvSpPr>
        <p:spPr/>
        <p:txBody>
          <a:body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BE707425-46E7-5794-2066-18223521B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2B3DF-E6DD-3205-1924-FC5D1D419633}"/>
              </a:ext>
            </a:extLst>
          </p:cNvPr>
          <p:cNvSpPr>
            <a:spLocks noGrp="1"/>
          </p:cNvSpPr>
          <p:nvPr>
            <p:ph type="sldNum" sz="quarter" idx="12"/>
          </p:nvPr>
        </p:nvSpPr>
        <p:spPr/>
        <p:txBody>
          <a:bodyPr/>
          <a:lstStyle/>
          <a:p>
            <a:fld id="{F2577FD1-F501-4111-8007-B7EC198BBABC}" type="slidenum">
              <a:rPr lang="en-US" smtClean="0"/>
              <a:t>‹#›</a:t>
            </a:fld>
            <a:endParaRPr lang="en-US"/>
          </a:p>
        </p:txBody>
      </p:sp>
    </p:spTree>
    <p:extLst>
      <p:ext uri="{BB962C8B-B14F-4D97-AF65-F5344CB8AC3E}">
        <p14:creationId xmlns:p14="http://schemas.microsoft.com/office/powerpoint/2010/main" val="82674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E3D78-A760-CD31-C61D-033D4F1AD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EAE53A-3FE3-1B1F-3D79-A8B642FDAC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1DFBA-4B74-A35B-0E4D-23AB5B664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BE7EE-0572-4E47-9210-5AA0896F5FB8}" type="datetimeFigureOut">
              <a:rPr lang="en-US" smtClean="0"/>
              <a:t>1/18/2026</a:t>
            </a:fld>
            <a:endParaRPr lang="en-US"/>
          </a:p>
        </p:txBody>
      </p:sp>
      <p:sp>
        <p:nvSpPr>
          <p:cNvPr id="5" name="Footer Placeholder 4">
            <a:extLst>
              <a:ext uri="{FF2B5EF4-FFF2-40B4-BE49-F238E27FC236}">
                <a16:creationId xmlns:a16="http://schemas.microsoft.com/office/drawing/2014/main" id="{6CF7DB9D-CE3E-CF19-BF15-568E66289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616678-C67D-37E5-0F73-38B61A5010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577FD1-F501-4111-8007-B7EC198BBABC}" type="slidenum">
              <a:rPr lang="en-US" smtClean="0"/>
              <a:t>‹#›</a:t>
            </a:fld>
            <a:endParaRPr lang="en-US"/>
          </a:p>
        </p:txBody>
      </p:sp>
    </p:spTree>
    <p:extLst>
      <p:ext uri="{BB962C8B-B14F-4D97-AF65-F5344CB8AC3E}">
        <p14:creationId xmlns:p14="http://schemas.microsoft.com/office/powerpoint/2010/main" val="2166496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nlp/introduction-to-natural-language-process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artificial-intelligence/fuzzy-logic-introductio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machine-learning/neural-networks-a-beginners-guide/" TargetMode="External"/><Relationship Id="rId2" Type="http://schemas.openxmlformats.org/officeDocument/2006/relationships/hyperlink" Target="https://www.geeksforgeeks.org/artificial-intelligence/artificial-neural-networks-and-its-application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E10FF-CD60-338E-5B3F-1573FC869B37}"/>
              </a:ext>
            </a:extLst>
          </p:cNvPr>
          <p:cNvSpPr>
            <a:spLocks noGrp="1"/>
          </p:cNvSpPr>
          <p:nvPr>
            <p:ph type="ctrTitle"/>
          </p:nvPr>
        </p:nvSpPr>
        <p:spPr/>
        <p:txBody>
          <a:bodyPr/>
          <a:lstStyle/>
          <a:p>
            <a:r>
              <a:rPr lang="en-US" b="1" dirty="0"/>
              <a:t>Expert Systems in AI</a:t>
            </a:r>
            <a:br>
              <a:rPr lang="en-US" b="1" dirty="0"/>
            </a:br>
            <a:endParaRPr lang="en-US" dirty="0"/>
          </a:p>
        </p:txBody>
      </p:sp>
      <p:sp>
        <p:nvSpPr>
          <p:cNvPr id="3" name="Subtitle 2">
            <a:extLst>
              <a:ext uri="{FF2B5EF4-FFF2-40B4-BE49-F238E27FC236}">
                <a16:creationId xmlns:a16="http://schemas.microsoft.com/office/drawing/2014/main" id="{B055E989-C0BC-A96B-07C1-645296A22B94}"/>
              </a:ext>
            </a:extLst>
          </p:cNvPr>
          <p:cNvSpPr>
            <a:spLocks noGrp="1"/>
          </p:cNvSpPr>
          <p:nvPr>
            <p:ph type="subTitle" idx="1"/>
          </p:nvPr>
        </p:nvSpPr>
        <p:spPr/>
        <p:txBody>
          <a:bodyPr/>
          <a:lstStyle/>
          <a:p>
            <a:r>
              <a:rPr lang="en-US" dirty="0"/>
              <a:t>By</a:t>
            </a:r>
          </a:p>
          <a:p>
            <a:r>
              <a:rPr lang="en-US" dirty="0"/>
              <a:t>Adnan Majeed</a:t>
            </a:r>
          </a:p>
          <a:p>
            <a:r>
              <a:rPr lang="en-US" dirty="0"/>
              <a:t>Data Scientist &amp; Researcher </a:t>
            </a:r>
          </a:p>
        </p:txBody>
      </p:sp>
    </p:spTree>
    <p:extLst>
      <p:ext uri="{BB962C8B-B14F-4D97-AF65-F5344CB8AC3E}">
        <p14:creationId xmlns:p14="http://schemas.microsoft.com/office/powerpoint/2010/main" val="2371418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64E4-BCF2-FF6A-C93A-965F14457B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130864-F430-305C-F004-6208D4A5C6A2}"/>
              </a:ext>
            </a:extLst>
          </p:cNvPr>
          <p:cNvSpPr>
            <a:spLocks noGrp="1"/>
          </p:cNvSpPr>
          <p:nvPr>
            <p:ph idx="1"/>
          </p:nvPr>
        </p:nvSpPr>
        <p:spPr/>
        <p:txBody>
          <a:bodyPr>
            <a:normAutofit lnSpcReduction="10000"/>
          </a:bodyPr>
          <a:lstStyle/>
          <a:p>
            <a:pPr fontAlgn="base"/>
            <a:r>
              <a:rPr lang="en-US" b="1" i="1" dirty="0"/>
              <a:t>Expert systems are a crucial subset of artificial intelligence (AI) that simulate the decision-making ability of a human expert</a:t>
            </a:r>
            <a:r>
              <a:rPr lang="en-US" dirty="0"/>
              <a:t>. These systems use a </a:t>
            </a:r>
            <a:r>
              <a:rPr lang="en-US" b="1" dirty="0"/>
              <a:t>knowledge base</a:t>
            </a:r>
            <a:r>
              <a:rPr lang="en-US" dirty="0"/>
              <a:t> filled with domain-specific information and rules to interpret and solve complex problems. For example, a medical expert system can </a:t>
            </a:r>
            <a:r>
              <a:rPr lang="en-US" b="1" dirty="0"/>
              <a:t>analyze a patient’s symptoms and suggest possible diagnoses or treatments. Similarly, a financial expert system can evaluate market trends and recommend investment strategies.</a:t>
            </a:r>
            <a:endParaRPr lang="en-US" dirty="0"/>
          </a:p>
          <a:p>
            <a:pPr fontAlgn="base"/>
            <a:r>
              <a:rPr lang="en-US" i="1" dirty="0"/>
              <a:t>The key idea behind expert systems is to </a:t>
            </a:r>
            <a:r>
              <a:rPr lang="en-US" b="1" i="1" dirty="0"/>
              <a:t>preserve and replicate human expertise</a:t>
            </a:r>
            <a:r>
              <a:rPr lang="en-US" i="1" dirty="0"/>
              <a:t>. This is especially useful in fields where expert knowledge is scarce or expensive.</a:t>
            </a:r>
          </a:p>
          <a:p>
            <a:endParaRPr lang="en-US" dirty="0"/>
          </a:p>
        </p:txBody>
      </p:sp>
    </p:spTree>
    <p:extLst>
      <p:ext uri="{BB962C8B-B14F-4D97-AF65-F5344CB8AC3E}">
        <p14:creationId xmlns:p14="http://schemas.microsoft.com/office/powerpoint/2010/main" val="22795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8F0D8-3680-C9AA-99A3-2087646199D8}"/>
              </a:ext>
            </a:extLst>
          </p:cNvPr>
          <p:cNvSpPr>
            <a:spLocks noGrp="1"/>
          </p:cNvSpPr>
          <p:nvPr>
            <p:ph type="title"/>
          </p:nvPr>
        </p:nvSpPr>
        <p:spPr/>
        <p:txBody>
          <a:bodyPr/>
          <a:lstStyle/>
          <a:p>
            <a:r>
              <a:rPr lang="en-US" b="1" dirty="0"/>
              <a:t>Why Are Expert Systems Important?</a:t>
            </a:r>
            <a:br>
              <a:rPr lang="en-US" b="1" dirty="0"/>
            </a:br>
            <a:endParaRPr lang="en-US" dirty="0"/>
          </a:p>
        </p:txBody>
      </p:sp>
      <p:sp>
        <p:nvSpPr>
          <p:cNvPr id="3" name="Content Placeholder 2">
            <a:extLst>
              <a:ext uri="{FF2B5EF4-FFF2-40B4-BE49-F238E27FC236}">
                <a16:creationId xmlns:a16="http://schemas.microsoft.com/office/drawing/2014/main" id="{1A17911F-9D7A-0FB9-FD8E-F8734C5EA826}"/>
              </a:ext>
            </a:extLst>
          </p:cNvPr>
          <p:cNvSpPr>
            <a:spLocks noGrp="1"/>
          </p:cNvSpPr>
          <p:nvPr>
            <p:ph idx="1"/>
          </p:nvPr>
        </p:nvSpPr>
        <p:spPr/>
        <p:txBody>
          <a:bodyPr/>
          <a:lstStyle/>
          <a:p>
            <a:pPr fontAlgn="base"/>
            <a:r>
              <a:rPr lang="en-US" b="1" dirty="0"/>
              <a:t>Preserving Expertise</a:t>
            </a:r>
            <a:r>
              <a:rPr lang="en-US" dirty="0"/>
              <a:t>: They capture the knowledge of human experts and store it in a digital format. This ensures that valuable expertise isn’t lost when an expert retires or leaves.</a:t>
            </a:r>
          </a:p>
          <a:p>
            <a:pPr fontAlgn="base"/>
            <a:r>
              <a:rPr lang="en-US" b="1" dirty="0"/>
              <a:t>Improving Decision-Making</a:t>
            </a:r>
            <a:r>
              <a:rPr lang="en-US" dirty="0"/>
              <a:t>: By relying on data and rules, expert systems provide consistent and unbiased recommendations.</a:t>
            </a:r>
          </a:p>
          <a:p>
            <a:pPr fontAlgn="base"/>
            <a:r>
              <a:rPr lang="en-US" b="1" dirty="0"/>
              <a:t>Saving Time and Money</a:t>
            </a:r>
            <a:r>
              <a:rPr lang="en-US" dirty="0"/>
              <a:t>: They automate tasks that would otherwise require human intervention, reducing costs and increasing efficiency.</a:t>
            </a:r>
          </a:p>
          <a:p>
            <a:pPr fontAlgn="base"/>
            <a:r>
              <a:rPr lang="en-US" b="1" dirty="0"/>
              <a:t>Accessibility</a:t>
            </a:r>
            <a:r>
              <a:rPr lang="en-US" dirty="0"/>
              <a:t>: Expert systems make expert-level knowledge available to non-experts, democratizing access to specialized information.</a:t>
            </a:r>
          </a:p>
          <a:p>
            <a:endParaRPr lang="en-US" dirty="0"/>
          </a:p>
        </p:txBody>
      </p:sp>
    </p:spTree>
    <p:extLst>
      <p:ext uri="{BB962C8B-B14F-4D97-AF65-F5344CB8AC3E}">
        <p14:creationId xmlns:p14="http://schemas.microsoft.com/office/powerpoint/2010/main" val="238474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1849-12CA-450C-9E25-F22DCD743045}"/>
              </a:ext>
            </a:extLst>
          </p:cNvPr>
          <p:cNvSpPr>
            <a:spLocks noGrp="1"/>
          </p:cNvSpPr>
          <p:nvPr>
            <p:ph type="title"/>
          </p:nvPr>
        </p:nvSpPr>
        <p:spPr/>
        <p:txBody>
          <a:bodyPr/>
          <a:lstStyle/>
          <a:p>
            <a:r>
              <a:rPr lang="en-US" b="1" dirty="0"/>
              <a:t>1. Knowledge Base: The Heart of the System</a:t>
            </a:r>
            <a:br>
              <a:rPr lang="en-US" b="1" dirty="0"/>
            </a:br>
            <a:endParaRPr lang="en-US" dirty="0"/>
          </a:p>
        </p:txBody>
      </p:sp>
      <p:sp>
        <p:nvSpPr>
          <p:cNvPr id="3" name="Content Placeholder 2">
            <a:extLst>
              <a:ext uri="{FF2B5EF4-FFF2-40B4-BE49-F238E27FC236}">
                <a16:creationId xmlns:a16="http://schemas.microsoft.com/office/drawing/2014/main" id="{14D83050-0CD9-B357-AFC5-F1461F239E21}"/>
              </a:ext>
            </a:extLst>
          </p:cNvPr>
          <p:cNvSpPr>
            <a:spLocks noGrp="1"/>
          </p:cNvSpPr>
          <p:nvPr>
            <p:ph idx="1"/>
          </p:nvPr>
        </p:nvSpPr>
        <p:spPr/>
        <p:txBody>
          <a:bodyPr/>
          <a:lstStyle/>
          <a:p>
            <a:pPr fontAlgn="base"/>
            <a:r>
              <a:rPr lang="en-US" dirty="0"/>
              <a:t>The knowledge base is the heart of an expert system. It contains all the facts, rules, and expert knowledge related to a specific domain. Think of it as a library filled with textbooks, research papers, and expert opinions. The </a:t>
            </a:r>
            <a:r>
              <a:rPr lang="en-US" b="1" i="1" dirty="0"/>
              <a:t>accuracy and completeness of the knowledge base directly impact the system’s performance. If the knowledge is outdated or incomplete, the system’s recommendations may be flawed.</a:t>
            </a:r>
            <a:endParaRPr lang="en-US" dirty="0"/>
          </a:p>
          <a:p>
            <a:pPr fontAlgn="base"/>
            <a:r>
              <a:rPr lang="en-US" i="1" dirty="0"/>
              <a:t> In a financial expert system, the knowledge base might include rules for detecting fraudulent transactions, such as "If a transaction exceeds $10,000 and occurs in a foreign country, flag it for review."</a:t>
            </a:r>
          </a:p>
          <a:p>
            <a:endParaRPr lang="en-US" dirty="0"/>
          </a:p>
        </p:txBody>
      </p:sp>
    </p:spTree>
    <p:extLst>
      <p:ext uri="{BB962C8B-B14F-4D97-AF65-F5344CB8AC3E}">
        <p14:creationId xmlns:p14="http://schemas.microsoft.com/office/powerpoint/2010/main" val="3432499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F8CBF-029B-3E40-DE5D-53EDF5B57032}"/>
              </a:ext>
            </a:extLst>
          </p:cNvPr>
          <p:cNvSpPr>
            <a:spLocks noGrp="1"/>
          </p:cNvSpPr>
          <p:nvPr>
            <p:ph type="title"/>
          </p:nvPr>
        </p:nvSpPr>
        <p:spPr/>
        <p:txBody>
          <a:bodyPr>
            <a:normAutofit fontScale="90000"/>
          </a:bodyPr>
          <a:lstStyle/>
          <a:p>
            <a:r>
              <a:rPr lang="en-US" b="1" dirty="0"/>
              <a:t>Inference Engine: The Brain Behind the Decisions</a:t>
            </a:r>
            <a:br>
              <a:rPr lang="en-US" b="1" dirty="0"/>
            </a:br>
            <a:endParaRPr lang="en-US" dirty="0"/>
          </a:p>
        </p:txBody>
      </p:sp>
      <p:sp>
        <p:nvSpPr>
          <p:cNvPr id="3" name="Content Placeholder 2">
            <a:extLst>
              <a:ext uri="{FF2B5EF4-FFF2-40B4-BE49-F238E27FC236}">
                <a16:creationId xmlns:a16="http://schemas.microsoft.com/office/drawing/2014/main" id="{8F7ED735-E77F-34D0-9935-7F2D9D2B8B49}"/>
              </a:ext>
            </a:extLst>
          </p:cNvPr>
          <p:cNvSpPr>
            <a:spLocks noGrp="1"/>
          </p:cNvSpPr>
          <p:nvPr>
            <p:ph idx="1"/>
          </p:nvPr>
        </p:nvSpPr>
        <p:spPr/>
        <p:txBody>
          <a:bodyPr>
            <a:normAutofit fontScale="92500"/>
          </a:bodyPr>
          <a:lstStyle/>
          <a:p>
            <a:pPr fontAlgn="base"/>
            <a:r>
              <a:rPr lang="en-US" dirty="0"/>
              <a:t>The </a:t>
            </a:r>
            <a:r>
              <a:rPr lang="en-US" b="1" dirty="0"/>
              <a:t>inference engine</a:t>
            </a:r>
            <a:r>
              <a:rPr lang="en-US" dirty="0"/>
              <a:t> is the brain of the expert system. It processes the information stored in the knowledge base to draw conclusions or make recommendations.</a:t>
            </a:r>
            <a:r>
              <a:rPr lang="en-US" b="1" dirty="0"/>
              <a:t> The inference engine uses reasoning strategies (like forward chaining or backward chaining) to analyze data and apply rules.</a:t>
            </a:r>
            <a:endParaRPr lang="en-US" dirty="0"/>
          </a:p>
          <a:p>
            <a:pPr fontAlgn="base"/>
            <a:r>
              <a:rPr lang="en-US" b="1" dirty="0"/>
              <a:t>Forward Chaining</a:t>
            </a:r>
            <a:r>
              <a:rPr lang="en-US" dirty="0"/>
              <a:t>: Starts with available data and works toward a conclusion. For example, </a:t>
            </a:r>
            <a:r>
              <a:rPr lang="en-US" i="1" dirty="0"/>
              <a:t>"If the temperature is high and the patient has a cough, diagnose a respiratory infection."</a:t>
            </a:r>
            <a:endParaRPr lang="en-US" dirty="0"/>
          </a:p>
          <a:p>
            <a:pPr fontAlgn="base"/>
            <a:r>
              <a:rPr lang="en-US" b="1" dirty="0"/>
              <a:t>Backward Chaining</a:t>
            </a:r>
            <a:r>
              <a:rPr lang="en-US" dirty="0"/>
              <a:t>: Starts with a goal and works backward to find supporting evidence. For example, </a:t>
            </a:r>
            <a:r>
              <a:rPr lang="en-US" i="1" dirty="0"/>
              <a:t>"If the goal is to diagnose diabetes, check for symptoms like frequent urination and high blood sugar."</a:t>
            </a:r>
            <a:endParaRPr lang="en-US" dirty="0"/>
          </a:p>
          <a:p>
            <a:endParaRPr lang="en-US" dirty="0"/>
          </a:p>
        </p:txBody>
      </p:sp>
    </p:spTree>
    <p:extLst>
      <p:ext uri="{BB962C8B-B14F-4D97-AF65-F5344CB8AC3E}">
        <p14:creationId xmlns:p14="http://schemas.microsoft.com/office/powerpoint/2010/main" val="384183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CAC0-7BF8-A739-AF11-A2EA08E878E7}"/>
              </a:ext>
            </a:extLst>
          </p:cNvPr>
          <p:cNvSpPr>
            <a:spLocks noGrp="1"/>
          </p:cNvSpPr>
          <p:nvPr>
            <p:ph type="title"/>
          </p:nvPr>
        </p:nvSpPr>
        <p:spPr/>
        <p:txBody>
          <a:bodyPr>
            <a:normAutofit fontScale="90000"/>
          </a:bodyPr>
          <a:lstStyle/>
          <a:p>
            <a:r>
              <a:rPr lang="en-US" b="1" dirty="0"/>
              <a:t>User Interface: Bridging the Gap Between System and User</a:t>
            </a:r>
            <a:br>
              <a:rPr lang="en-US" b="1" dirty="0"/>
            </a:br>
            <a:endParaRPr lang="en-US" dirty="0"/>
          </a:p>
        </p:txBody>
      </p:sp>
      <p:sp>
        <p:nvSpPr>
          <p:cNvPr id="3" name="Content Placeholder 2">
            <a:extLst>
              <a:ext uri="{FF2B5EF4-FFF2-40B4-BE49-F238E27FC236}">
                <a16:creationId xmlns:a16="http://schemas.microsoft.com/office/drawing/2014/main" id="{92CE90A5-ACD5-177E-5A11-A024B94A14DB}"/>
              </a:ext>
            </a:extLst>
          </p:cNvPr>
          <p:cNvSpPr>
            <a:spLocks noGrp="1"/>
          </p:cNvSpPr>
          <p:nvPr>
            <p:ph idx="1"/>
          </p:nvPr>
        </p:nvSpPr>
        <p:spPr/>
        <p:txBody>
          <a:bodyPr/>
          <a:lstStyle/>
          <a:p>
            <a:r>
              <a:rPr lang="en-US" dirty="0"/>
              <a:t>The </a:t>
            </a:r>
            <a:r>
              <a:rPr lang="en-US" b="1" dirty="0"/>
              <a:t>user interface</a:t>
            </a:r>
            <a:r>
              <a:rPr lang="en-US" dirty="0"/>
              <a:t> is the bridge that allows users to interact with the expert system. It’s designed to be intuitive and user-friendly, ensuring</a:t>
            </a:r>
            <a:r>
              <a:rPr lang="en-US" b="1" dirty="0"/>
              <a:t> that even non-experts can use the system effectively. </a:t>
            </a:r>
            <a:r>
              <a:rPr lang="en-US" dirty="0"/>
              <a:t> Users provide a </a:t>
            </a:r>
            <a:r>
              <a:rPr lang="en-US" b="1" dirty="0"/>
              <a:t>query</a:t>
            </a:r>
            <a:r>
              <a:rPr lang="en-US" dirty="0"/>
              <a:t> (problem or question), and the system processes the request. The system then delivers </a:t>
            </a:r>
            <a:r>
              <a:rPr lang="en-US" b="1" dirty="0"/>
              <a:t>advice</a:t>
            </a:r>
            <a:r>
              <a:rPr lang="en-US" dirty="0"/>
              <a:t> or recommendations back to the user.</a:t>
            </a:r>
          </a:p>
        </p:txBody>
      </p:sp>
    </p:spTree>
    <p:extLst>
      <p:ext uri="{BB962C8B-B14F-4D97-AF65-F5344CB8AC3E}">
        <p14:creationId xmlns:p14="http://schemas.microsoft.com/office/powerpoint/2010/main" val="3676927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3BC33-51CF-B4A8-AD0A-EAC1B0C7DB21}"/>
              </a:ext>
            </a:extLst>
          </p:cNvPr>
          <p:cNvSpPr>
            <a:spLocks noGrp="1"/>
          </p:cNvSpPr>
          <p:nvPr>
            <p:ph type="title"/>
          </p:nvPr>
        </p:nvSpPr>
        <p:spPr/>
        <p:txBody>
          <a:bodyPr>
            <a:normAutofit fontScale="90000"/>
          </a:bodyPr>
          <a:lstStyle/>
          <a:p>
            <a:r>
              <a:rPr lang="en-US" b="1" dirty="0"/>
              <a:t>Explanation Module: Building Trust Through Transparency</a:t>
            </a:r>
            <a:br>
              <a:rPr lang="en-US" b="1" dirty="0"/>
            </a:br>
            <a:endParaRPr lang="en-US" dirty="0"/>
          </a:p>
        </p:txBody>
      </p:sp>
      <p:sp>
        <p:nvSpPr>
          <p:cNvPr id="3" name="Content Placeholder 2">
            <a:extLst>
              <a:ext uri="{FF2B5EF4-FFF2-40B4-BE49-F238E27FC236}">
                <a16:creationId xmlns:a16="http://schemas.microsoft.com/office/drawing/2014/main" id="{9D4D13BA-BD47-8FAA-876C-087AFD80E9B2}"/>
              </a:ext>
            </a:extLst>
          </p:cNvPr>
          <p:cNvSpPr>
            <a:spLocks noGrp="1"/>
          </p:cNvSpPr>
          <p:nvPr>
            <p:ph idx="1"/>
          </p:nvPr>
        </p:nvSpPr>
        <p:spPr/>
        <p:txBody>
          <a:bodyPr/>
          <a:lstStyle/>
          <a:p>
            <a:pPr fontAlgn="base"/>
            <a:r>
              <a:rPr lang="en-US" dirty="0"/>
              <a:t>This transparency is especially important in fields like healthcare and finance, where decisions can have significant consequences.</a:t>
            </a:r>
          </a:p>
          <a:p>
            <a:pPr fontAlgn="base"/>
            <a:r>
              <a:rPr lang="en-US" b="1" dirty="0"/>
              <a:t>Example</a:t>
            </a:r>
            <a:r>
              <a:rPr lang="en-US" dirty="0"/>
              <a:t>: A medical expert system might explain, </a:t>
            </a:r>
            <a:r>
              <a:rPr lang="en-US" i="1" dirty="0"/>
              <a:t>"I diagnosed pneumonia because the patient has a fever, cough, and abnormal chest X-ray."</a:t>
            </a:r>
            <a:endParaRPr lang="en-US" dirty="0"/>
          </a:p>
          <a:p>
            <a:endParaRPr lang="en-US" dirty="0"/>
          </a:p>
        </p:txBody>
      </p:sp>
    </p:spTree>
    <p:extLst>
      <p:ext uri="{BB962C8B-B14F-4D97-AF65-F5344CB8AC3E}">
        <p14:creationId xmlns:p14="http://schemas.microsoft.com/office/powerpoint/2010/main" val="2005670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12F4E-A77D-AA35-1A88-05FCE6D14F0C}"/>
              </a:ext>
            </a:extLst>
          </p:cNvPr>
          <p:cNvSpPr>
            <a:spLocks noGrp="1"/>
          </p:cNvSpPr>
          <p:nvPr>
            <p:ph type="title"/>
          </p:nvPr>
        </p:nvSpPr>
        <p:spPr/>
        <p:txBody>
          <a:bodyPr>
            <a:normAutofit fontScale="90000"/>
          </a:bodyPr>
          <a:lstStyle/>
          <a:p>
            <a:r>
              <a:rPr lang="en-US" b="1" dirty="0"/>
              <a:t>Knowledge Acquisition Module: Keeping the System Up-to-Date</a:t>
            </a:r>
            <a:br>
              <a:rPr lang="en-US" b="1" dirty="0"/>
            </a:br>
            <a:endParaRPr lang="en-US" dirty="0"/>
          </a:p>
        </p:txBody>
      </p:sp>
      <p:sp>
        <p:nvSpPr>
          <p:cNvPr id="3" name="Content Placeholder 2">
            <a:extLst>
              <a:ext uri="{FF2B5EF4-FFF2-40B4-BE49-F238E27FC236}">
                <a16:creationId xmlns:a16="http://schemas.microsoft.com/office/drawing/2014/main" id="{8334BC2F-DF18-E1EA-738D-18055C1C93CD}"/>
              </a:ext>
            </a:extLst>
          </p:cNvPr>
          <p:cNvSpPr>
            <a:spLocks noGrp="1"/>
          </p:cNvSpPr>
          <p:nvPr>
            <p:ph idx="1"/>
          </p:nvPr>
        </p:nvSpPr>
        <p:spPr/>
        <p:txBody>
          <a:bodyPr/>
          <a:lstStyle/>
          <a:p>
            <a:r>
              <a:rPr lang="en-US" dirty="0"/>
              <a:t>The </a:t>
            </a:r>
            <a:r>
              <a:rPr lang="en-US" b="1" dirty="0"/>
              <a:t>knowledge acquisition module</a:t>
            </a:r>
            <a:r>
              <a:rPr lang="en-US" dirty="0"/>
              <a:t> is responsible for updating and expanding the knowledge base. It ensures that the system stays current with the latest information and trends. Without regular updates, the system’s knowledge base can become outdated, reducing its effectiveness.</a:t>
            </a:r>
          </a:p>
        </p:txBody>
      </p:sp>
    </p:spTree>
    <p:extLst>
      <p:ext uri="{BB962C8B-B14F-4D97-AF65-F5344CB8AC3E}">
        <p14:creationId xmlns:p14="http://schemas.microsoft.com/office/powerpoint/2010/main" val="3900121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chitecture">
            <a:extLst>
              <a:ext uri="{FF2B5EF4-FFF2-40B4-BE49-F238E27FC236}">
                <a16:creationId xmlns:a16="http://schemas.microsoft.com/office/drawing/2014/main" id="{87907B5D-1D15-538C-0FC3-928570010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2609850"/>
            <a:ext cx="8782050"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914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BF096-A18C-882A-0A89-14C9696E8D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1E402D-0000-1E9B-CD23-69D3740C8837}"/>
              </a:ext>
            </a:extLst>
          </p:cNvPr>
          <p:cNvSpPr>
            <a:spLocks noGrp="1"/>
          </p:cNvSpPr>
          <p:nvPr>
            <p:ph idx="1"/>
          </p:nvPr>
        </p:nvSpPr>
        <p:spPr/>
        <p:txBody>
          <a:bodyPr/>
          <a:lstStyle/>
          <a:p>
            <a:pPr fontAlgn="base"/>
            <a:r>
              <a:rPr lang="en-US" dirty="0"/>
              <a:t>The </a:t>
            </a:r>
            <a:r>
              <a:rPr lang="en-US" b="1" dirty="0"/>
              <a:t>working mechanism of an expert system</a:t>
            </a:r>
            <a:r>
              <a:rPr lang="en-US" dirty="0"/>
              <a:t> begins when a </a:t>
            </a:r>
            <a:r>
              <a:rPr lang="en-US" b="1" dirty="0"/>
              <a:t>non-expert user</a:t>
            </a:r>
            <a:r>
              <a:rPr lang="en-US" dirty="0"/>
              <a:t> submits a </a:t>
            </a:r>
            <a:r>
              <a:rPr lang="en-US" b="1" dirty="0"/>
              <a:t>query</a:t>
            </a:r>
            <a:r>
              <a:rPr lang="en-US" dirty="0"/>
              <a:t> through the </a:t>
            </a:r>
            <a:r>
              <a:rPr lang="en-US" b="1" dirty="0"/>
              <a:t>user interface</a:t>
            </a:r>
            <a:r>
              <a:rPr lang="en-US" dirty="0"/>
              <a:t>.</a:t>
            </a:r>
          </a:p>
          <a:p>
            <a:pPr fontAlgn="base"/>
            <a:r>
              <a:rPr lang="en-US" dirty="0"/>
              <a:t>This query is then processed by the </a:t>
            </a:r>
            <a:r>
              <a:rPr lang="en-US" b="1" dirty="0"/>
              <a:t>inference engine</a:t>
            </a:r>
            <a:r>
              <a:rPr lang="en-US" dirty="0"/>
              <a:t>, which applies </a:t>
            </a:r>
            <a:r>
              <a:rPr lang="en-US" b="1" dirty="0"/>
              <a:t>logical rules</a:t>
            </a:r>
            <a:r>
              <a:rPr lang="en-US" dirty="0"/>
              <a:t> and </a:t>
            </a:r>
            <a:r>
              <a:rPr lang="en-US" b="1" dirty="0"/>
              <a:t>reasoning techniques</a:t>
            </a:r>
            <a:r>
              <a:rPr lang="en-US" dirty="0"/>
              <a:t> to analyze the input.</a:t>
            </a:r>
          </a:p>
          <a:p>
            <a:pPr fontAlgn="base"/>
            <a:r>
              <a:rPr lang="en-US" dirty="0"/>
              <a:t>The </a:t>
            </a:r>
            <a:r>
              <a:rPr lang="en-US" b="1" dirty="0"/>
              <a:t>inference engine</a:t>
            </a:r>
            <a:r>
              <a:rPr lang="en-US" dirty="0"/>
              <a:t> interacts with the </a:t>
            </a:r>
            <a:r>
              <a:rPr lang="en-US" b="1" dirty="0"/>
              <a:t>knowledge base</a:t>
            </a:r>
            <a:r>
              <a:rPr lang="en-US" dirty="0"/>
              <a:t>, retrieving relevant </a:t>
            </a:r>
            <a:r>
              <a:rPr lang="en-US" b="1" dirty="0"/>
              <a:t>facts, rules, and heuristics</a:t>
            </a:r>
            <a:r>
              <a:rPr lang="en-US" dirty="0"/>
              <a:t> contributed by </a:t>
            </a:r>
            <a:r>
              <a:rPr lang="en-US" b="1" dirty="0"/>
              <a:t>expert users</a:t>
            </a:r>
            <a:r>
              <a:rPr lang="en-US" dirty="0"/>
              <a:t>.</a:t>
            </a:r>
          </a:p>
          <a:p>
            <a:pPr fontAlgn="base"/>
            <a:r>
              <a:rPr lang="en-US" dirty="0"/>
              <a:t>Based on this </a:t>
            </a:r>
            <a:r>
              <a:rPr lang="en-US" b="1" dirty="0"/>
              <a:t>structured knowledge</a:t>
            </a:r>
            <a:r>
              <a:rPr lang="en-US" dirty="0"/>
              <a:t>, the system derives </a:t>
            </a:r>
            <a:r>
              <a:rPr lang="en-US" b="1" dirty="0"/>
              <a:t>conclusions</a:t>
            </a:r>
            <a:r>
              <a:rPr lang="en-US" dirty="0"/>
              <a:t> and formulates an appropriate </a:t>
            </a:r>
            <a:r>
              <a:rPr lang="en-US" b="1" dirty="0"/>
              <a:t>response</a:t>
            </a:r>
            <a:r>
              <a:rPr lang="en-US" dirty="0"/>
              <a:t>.</a:t>
            </a:r>
          </a:p>
          <a:p>
            <a:endParaRPr lang="en-US" dirty="0"/>
          </a:p>
        </p:txBody>
      </p:sp>
    </p:spTree>
    <p:extLst>
      <p:ext uri="{BB962C8B-B14F-4D97-AF65-F5344CB8AC3E}">
        <p14:creationId xmlns:p14="http://schemas.microsoft.com/office/powerpoint/2010/main" val="582385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9D565-2167-B482-A242-3C93A1DBB63A}"/>
              </a:ext>
            </a:extLst>
          </p:cNvPr>
          <p:cNvSpPr>
            <a:spLocks noGrp="1"/>
          </p:cNvSpPr>
          <p:nvPr>
            <p:ph type="title"/>
          </p:nvPr>
        </p:nvSpPr>
        <p:spPr/>
        <p:txBody>
          <a:bodyPr/>
          <a:lstStyle/>
          <a:p>
            <a:r>
              <a:rPr lang="en-US" b="1" dirty="0"/>
              <a:t>Reasoning Strategies used by Inference Engine</a:t>
            </a:r>
            <a:br>
              <a:rPr lang="en-US" b="1" dirty="0"/>
            </a:br>
            <a:endParaRPr lang="en-US" dirty="0"/>
          </a:p>
        </p:txBody>
      </p:sp>
      <p:sp>
        <p:nvSpPr>
          <p:cNvPr id="3" name="Content Placeholder 2">
            <a:extLst>
              <a:ext uri="{FF2B5EF4-FFF2-40B4-BE49-F238E27FC236}">
                <a16:creationId xmlns:a16="http://schemas.microsoft.com/office/drawing/2014/main" id="{DD4B681B-829D-F846-20DE-435B7BADCF6B}"/>
              </a:ext>
            </a:extLst>
          </p:cNvPr>
          <p:cNvSpPr>
            <a:spLocks noGrp="1"/>
          </p:cNvSpPr>
          <p:nvPr>
            <p:ph idx="1"/>
          </p:nvPr>
        </p:nvSpPr>
        <p:spPr/>
        <p:txBody>
          <a:bodyPr/>
          <a:lstStyle/>
          <a:p>
            <a:pPr fontAlgn="base"/>
            <a:r>
              <a:rPr lang="en-US" b="1" dirty="0"/>
              <a:t>1. Forward Chaining</a:t>
            </a:r>
          </a:p>
          <a:p>
            <a:pPr fontAlgn="base"/>
            <a:r>
              <a:rPr lang="en-US" dirty="0"/>
              <a:t>This is a </a:t>
            </a:r>
            <a:r>
              <a:rPr lang="en-US" b="1" dirty="0"/>
              <a:t>data-driven</a:t>
            </a:r>
            <a:r>
              <a:rPr lang="en-US" dirty="0"/>
              <a:t> reasoning approach where the system starts with the available facts and applies rules to infer new facts or conclusions. It's typically used to predict outcomes or determine what will happen next. An example given is predicting stock market movements.</a:t>
            </a:r>
          </a:p>
          <a:p>
            <a:endParaRPr lang="en-US" dirty="0"/>
          </a:p>
        </p:txBody>
      </p:sp>
    </p:spTree>
    <p:extLst>
      <p:ext uri="{BB962C8B-B14F-4D97-AF65-F5344CB8AC3E}">
        <p14:creationId xmlns:p14="http://schemas.microsoft.com/office/powerpoint/2010/main" val="3161412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961756C-C3B1-B5C1-D471-4C6B9C5AF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225" y="2085975"/>
            <a:ext cx="7067550"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682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95BE-112E-EC29-EE29-8081B75EE604}"/>
              </a:ext>
            </a:extLst>
          </p:cNvPr>
          <p:cNvSpPr>
            <a:spLocks noGrp="1"/>
          </p:cNvSpPr>
          <p:nvPr>
            <p:ph type="title"/>
          </p:nvPr>
        </p:nvSpPr>
        <p:spPr/>
        <p:txBody>
          <a:bodyPr/>
          <a:lstStyle/>
          <a:p>
            <a:r>
              <a:rPr lang="en-US" b="1" dirty="0"/>
              <a:t>2. Backward Chaining</a:t>
            </a:r>
            <a:br>
              <a:rPr lang="en-US" b="1" dirty="0"/>
            </a:br>
            <a:endParaRPr lang="en-US" dirty="0"/>
          </a:p>
        </p:txBody>
      </p:sp>
      <p:sp>
        <p:nvSpPr>
          <p:cNvPr id="3" name="Content Placeholder 2">
            <a:extLst>
              <a:ext uri="{FF2B5EF4-FFF2-40B4-BE49-F238E27FC236}">
                <a16:creationId xmlns:a16="http://schemas.microsoft.com/office/drawing/2014/main" id="{8C495035-57ED-DE7B-08E6-FC4DBD57CFF4}"/>
              </a:ext>
            </a:extLst>
          </p:cNvPr>
          <p:cNvSpPr>
            <a:spLocks noGrp="1"/>
          </p:cNvSpPr>
          <p:nvPr>
            <p:ph idx="1"/>
          </p:nvPr>
        </p:nvSpPr>
        <p:spPr/>
        <p:txBody>
          <a:bodyPr/>
          <a:lstStyle/>
          <a:p>
            <a:r>
              <a:rPr lang="en-US" dirty="0"/>
              <a:t>This is a </a:t>
            </a:r>
            <a:r>
              <a:rPr lang="en-US" b="1" dirty="0"/>
              <a:t>goal-driven</a:t>
            </a:r>
            <a:r>
              <a:rPr lang="en-US" dirty="0"/>
              <a:t> reasoning approach where the system starts with a hypothesis or a goal (something to prove) and works backward to determine which facts or conditions would support that conclusion. It's often used to diagnose issues by determining the cause of an observed effect. The examples provided include diagnosing medical conditions like stomach pain, blood cancer, or dengue.</a:t>
            </a:r>
          </a:p>
        </p:txBody>
      </p:sp>
    </p:spTree>
    <p:extLst>
      <p:ext uri="{BB962C8B-B14F-4D97-AF65-F5344CB8AC3E}">
        <p14:creationId xmlns:p14="http://schemas.microsoft.com/office/powerpoint/2010/main" val="4221796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4E722-091D-0F71-0946-982919453062}"/>
              </a:ext>
            </a:extLst>
          </p:cNvPr>
          <p:cNvSpPr>
            <a:spLocks noGrp="1"/>
          </p:cNvSpPr>
          <p:nvPr>
            <p:ph type="title"/>
          </p:nvPr>
        </p:nvSpPr>
        <p:spPr/>
        <p:txBody>
          <a:bodyPr/>
          <a:lstStyle/>
          <a:p>
            <a:endParaRPr lang="en-US"/>
          </a:p>
        </p:txBody>
      </p:sp>
      <p:pic>
        <p:nvPicPr>
          <p:cNvPr id="3074" name="Picture 2">
            <a:extLst>
              <a:ext uri="{FF2B5EF4-FFF2-40B4-BE49-F238E27FC236}">
                <a16:creationId xmlns:a16="http://schemas.microsoft.com/office/drawing/2014/main" id="{AAF31751-A00D-0BEB-0DC2-B7FA7440CAF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2225" y="2658269"/>
            <a:ext cx="7067550"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413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55BDA-14C3-F8C2-CF27-F3AAC29116D7}"/>
              </a:ext>
            </a:extLst>
          </p:cNvPr>
          <p:cNvSpPr>
            <a:spLocks noGrp="1"/>
          </p:cNvSpPr>
          <p:nvPr>
            <p:ph type="title"/>
          </p:nvPr>
        </p:nvSpPr>
        <p:spPr/>
        <p:txBody>
          <a:bodyPr/>
          <a:lstStyle/>
          <a:p>
            <a:r>
              <a:rPr lang="en-US" b="1" dirty="0"/>
              <a:t>How These Components Work Together?</a:t>
            </a:r>
            <a:br>
              <a:rPr lang="en-US" b="1" dirty="0"/>
            </a:br>
            <a:endParaRPr lang="en-US" dirty="0"/>
          </a:p>
        </p:txBody>
      </p:sp>
      <p:sp>
        <p:nvSpPr>
          <p:cNvPr id="3" name="Content Placeholder 2">
            <a:extLst>
              <a:ext uri="{FF2B5EF4-FFF2-40B4-BE49-F238E27FC236}">
                <a16:creationId xmlns:a16="http://schemas.microsoft.com/office/drawing/2014/main" id="{E1F3F7FD-2338-7ED2-9AF3-417169193D1D}"/>
              </a:ext>
            </a:extLst>
          </p:cNvPr>
          <p:cNvSpPr>
            <a:spLocks noGrp="1"/>
          </p:cNvSpPr>
          <p:nvPr>
            <p:ph idx="1"/>
          </p:nvPr>
        </p:nvSpPr>
        <p:spPr/>
        <p:txBody>
          <a:bodyPr>
            <a:normAutofit fontScale="92500"/>
          </a:bodyPr>
          <a:lstStyle/>
          <a:p>
            <a:pPr fontAlgn="base"/>
            <a:r>
              <a:rPr lang="en-US" b="1" dirty="0"/>
              <a:t>Input</a:t>
            </a:r>
            <a:r>
              <a:rPr lang="en-US" dirty="0"/>
              <a:t>: A patient reports symptoms like fever, cough, and fatigue through the user interface.</a:t>
            </a:r>
          </a:p>
          <a:p>
            <a:pPr fontAlgn="base"/>
            <a:r>
              <a:rPr lang="en-US" b="1" dirty="0"/>
              <a:t>Processing</a:t>
            </a:r>
            <a:r>
              <a:rPr lang="en-US" dirty="0"/>
              <a:t>: The inference engine analyzes the symptoms using rules from the knowledge base.</a:t>
            </a:r>
          </a:p>
          <a:p>
            <a:pPr fontAlgn="base"/>
            <a:r>
              <a:rPr lang="en-US" b="1" dirty="0"/>
              <a:t>Output</a:t>
            </a:r>
            <a:r>
              <a:rPr lang="en-US" dirty="0"/>
              <a:t>: The system suggests a possible diagnosis, such as pneumonia.</a:t>
            </a:r>
          </a:p>
          <a:p>
            <a:pPr fontAlgn="base"/>
            <a:r>
              <a:rPr lang="en-US" b="1" dirty="0"/>
              <a:t>Explanation</a:t>
            </a:r>
            <a:r>
              <a:rPr lang="en-US" dirty="0"/>
              <a:t>: The explanation module provides a detailed explanation, such as </a:t>
            </a:r>
            <a:r>
              <a:rPr lang="en-US" i="1" dirty="0"/>
              <a:t>"The diagnosis is based on the presence of fever, cough, and abnormal chest X-ray results."</a:t>
            </a:r>
            <a:endParaRPr lang="en-US" dirty="0"/>
          </a:p>
          <a:p>
            <a:pPr fontAlgn="base"/>
            <a:r>
              <a:rPr lang="en-US" b="1" dirty="0"/>
              <a:t>Update</a:t>
            </a:r>
            <a:r>
              <a:rPr lang="en-US" dirty="0"/>
              <a:t>: The knowledge acquisition module adds new data, such as recent research on pneumonia treatments, to keep the system up-to-date.</a:t>
            </a:r>
          </a:p>
          <a:p>
            <a:endParaRPr lang="en-US" dirty="0"/>
          </a:p>
        </p:txBody>
      </p:sp>
    </p:spTree>
    <p:extLst>
      <p:ext uri="{BB962C8B-B14F-4D97-AF65-F5344CB8AC3E}">
        <p14:creationId xmlns:p14="http://schemas.microsoft.com/office/powerpoint/2010/main" val="488846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6C46B-09EF-104C-3264-B4437A7BBC0C}"/>
              </a:ext>
            </a:extLst>
          </p:cNvPr>
          <p:cNvSpPr>
            <a:spLocks noGrp="1"/>
          </p:cNvSpPr>
          <p:nvPr>
            <p:ph type="title"/>
          </p:nvPr>
        </p:nvSpPr>
        <p:spPr/>
        <p:txBody>
          <a:bodyPr/>
          <a:lstStyle/>
          <a:p>
            <a:r>
              <a:rPr lang="en-US" b="1" dirty="0"/>
              <a:t>Types of Expert Systems in AI</a:t>
            </a:r>
            <a:br>
              <a:rPr lang="en-US" b="1" dirty="0"/>
            </a:br>
            <a:endParaRPr lang="en-US" dirty="0"/>
          </a:p>
        </p:txBody>
      </p:sp>
      <p:sp>
        <p:nvSpPr>
          <p:cNvPr id="3" name="Content Placeholder 2">
            <a:extLst>
              <a:ext uri="{FF2B5EF4-FFF2-40B4-BE49-F238E27FC236}">
                <a16:creationId xmlns:a16="http://schemas.microsoft.com/office/drawing/2014/main" id="{239CF023-134C-8BAC-706B-A7475485348D}"/>
              </a:ext>
            </a:extLst>
          </p:cNvPr>
          <p:cNvSpPr>
            <a:spLocks noGrp="1"/>
          </p:cNvSpPr>
          <p:nvPr>
            <p:ph idx="1"/>
          </p:nvPr>
        </p:nvSpPr>
        <p:spPr/>
        <p:txBody>
          <a:bodyPr/>
          <a:lstStyle/>
          <a:p>
            <a:pPr fontAlgn="base"/>
            <a:r>
              <a:rPr lang="en-US" b="1" dirty="0"/>
              <a:t>Rule-Based Expert Systems</a:t>
            </a:r>
          </a:p>
          <a:p>
            <a:pPr fontAlgn="base"/>
            <a:r>
              <a:rPr lang="en-US" dirty="0"/>
              <a:t>One of the most common types is </a:t>
            </a:r>
            <a:r>
              <a:rPr lang="en-US" b="1" dirty="0"/>
              <a:t>Rule-Based Expert Systems</a:t>
            </a:r>
            <a:r>
              <a:rPr lang="en-US" dirty="0"/>
              <a:t>, which rely on </a:t>
            </a:r>
            <a:r>
              <a:rPr lang="en-US" b="1" dirty="0"/>
              <a:t>if-then rules</a:t>
            </a:r>
            <a:r>
              <a:rPr lang="en-US" dirty="0"/>
              <a:t> to process information and make decisions. These rules are typically crafted by domain experts and serve as the system’s reasoning mechanism. A well-known example is </a:t>
            </a:r>
            <a:r>
              <a:rPr lang="en-US" b="1" dirty="0"/>
              <a:t>MYCIN</a:t>
            </a:r>
            <a:r>
              <a:rPr lang="en-US" dirty="0"/>
              <a:t>, an early medical diagnosis system that identified bacterial infections.</a:t>
            </a:r>
          </a:p>
          <a:p>
            <a:endParaRPr lang="en-US" dirty="0"/>
          </a:p>
        </p:txBody>
      </p:sp>
    </p:spTree>
    <p:extLst>
      <p:ext uri="{BB962C8B-B14F-4D97-AF65-F5344CB8AC3E}">
        <p14:creationId xmlns:p14="http://schemas.microsoft.com/office/powerpoint/2010/main" val="209141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6A74-6071-5647-1D2C-B11774C7D7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A1E9AB-DB3D-2104-A57F-350CBE66310D}"/>
              </a:ext>
            </a:extLst>
          </p:cNvPr>
          <p:cNvSpPr>
            <a:spLocks noGrp="1"/>
          </p:cNvSpPr>
          <p:nvPr>
            <p:ph idx="1"/>
          </p:nvPr>
        </p:nvSpPr>
        <p:spPr/>
        <p:txBody>
          <a:bodyPr/>
          <a:lstStyle/>
          <a:p>
            <a:pPr fontAlgn="base"/>
            <a:r>
              <a:rPr lang="en-US" b="1" dirty="0"/>
              <a:t>Frame-Based Expert Systems</a:t>
            </a:r>
          </a:p>
          <a:p>
            <a:pPr fontAlgn="base"/>
            <a:r>
              <a:rPr lang="en-US" dirty="0"/>
              <a:t>Another category is </a:t>
            </a:r>
            <a:r>
              <a:rPr lang="en-US" b="1" dirty="0"/>
              <a:t>Frame-Based Expert Systems</a:t>
            </a:r>
            <a:r>
              <a:rPr lang="en-US" dirty="0"/>
              <a:t>, which organize knowledge using </a:t>
            </a:r>
            <a:r>
              <a:rPr lang="en-US" b="1" dirty="0"/>
              <a:t>frames</a:t>
            </a:r>
            <a:r>
              <a:rPr lang="en-US" dirty="0"/>
              <a:t>, similar to objects in programming. These frames store attributes and values related to specific concepts, making them useful in </a:t>
            </a:r>
            <a:r>
              <a:rPr lang="en-US" u="sng" dirty="0">
                <a:hlinkClick r:id="rId2"/>
              </a:rPr>
              <a:t>natural language processing</a:t>
            </a:r>
            <a:r>
              <a:rPr lang="en-US" dirty="0"/>
              <a:t> and other knowledge representation tasks.</a:t>
            </a:r>
          </a:p>
          <a:p>
            <a:endParaRPr lang="en-US" dirty="0"/>
          </a:p>
        </p:txBody>
      </p:sp>
    </p:spTree>
    <p:extLst>
      <p:ext uri="{BB962C8B-B14F-4D97-AF65-F5344CB8AC3E}">
        <p14:creationId xmlns:p14="http://schemas.microsoft.com/office/powerpoint/2010/main" val="1106677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81D6A-66F0-0AC9-6F3C-190C1FBBEF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FC5C7E-87ED-78B5-CBE1-9E6E715CF098}"/>
              </a:ext>
            </a:extLst>
          </p:cNvPr>
          <p:cNvSpPr>
            <a:spLocks noGrp="1"/>
          </p:cNvSpPr>
          <p:nvPr>
            <p:ph idx="1"/>
          </p:nvPr>
        </p:nvSpPr>
        <p:spPr/>
        <p:txBody>
          <a:bodyPr/>
          <a:lstStyle/>
          <a:p>
            <a:pPr fontAlgn="base"/>
            <a:r>
              <a:rPr lang="en-US" b="1" dirty="0"/>
              <a:t>Fuzzy Logic Systems</a:t>
            </a:r>
          </a:p>
          <a:p>
            <a:pPr fontAlgn="base"/>
            <a:r>
              <a:rPr lang="en-US" dirty="0"/>
              <a:t>For situations involving </a:t>
            </a:r>
            <a:r>
              <a:rPr lang="en-US" b="1" dirty="0"/>
              <a:t>uncertainty and imprecision</a:t>
            </a:r>
            <a:r>
              <a:rPr lang="en-US" dirty="0"/>
              <a:t>, </a:t>
            </a:r>
            <a:r>
              <a:rPr lang="en-US" u="sng" dirty="0">
                <a:hlinkClick r:id="rId2"/>
              </a:rPr>
              <a:t>fuzzy logic</a:t>
            </a:r>
            <a:r>
              <a:rPr lang="en-US" b="1" dirty="0"/>
              <a:t> Systems</a:t>
            </a:r>
            <a:r>
              <a:rPr lang="en-US" dirty="0"/>
              <a:t> come into play. These systems don’t operate on strict true/false values but instead allow for degrees of truth. </a:t>
            </a:r>
            <a:r>
              <a:rPr lang="en-US" b="1" dirty="0"/>
              <a:t>Fuzzy control systems</a:t>
            </a:r>
            <a:r>
              <a:rPr lang="en-US" dirty="0"/>
              <a:t>, commonly used in household appliances like </a:t>
            </a:r>
            <a:r>
              <a:rPr lang="en-US" b="1" dirty="0"/>
              <a:t>washing machines and air conditioners</a:t>
            </a:r>
            <a:r>
              <a:rPr lang="en-US" dirty="0"/>
              <a:t>, leverage this approach to optimize performance based on variable input conditions.</a:t>
            </a:r>
          </a:p>
          <a:p>
            <a:endParaRPr lang="en-US" dirty="0"/>
          </a:p>
        </p:txBody>
      </p:sp>
    </p:spTree>
    <p:extLst>
      <p:ext uri="{BB962C8B-B14F-4D97-AF65-F5344CB8AC3E}">
        <p14:creationId xmlns:p14="http://schemas.microsoft.com/office/powerpoint/2010/main" val="1589071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0D5CE-E081-B80D-8B88-EC54720730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B97016-C48C-7E73-8F29-EB0248284C1B}"/>
              </a:ext>
            </a:extLst>
          </p:cNvPr>
          <p:cNvSpPr>
            <a:spLocks noGrp="1"/>
          </p:cNvSpPr>
          <p:nvPr>
            <p:ph idx="1"/>
          </p:nvPr>
        </p:nvSpPr>
        <p:spPr/>
        <p:txBody>
          <a:bodyPr>
            <a:normAutofit fontScale="92500" lnSpcReduction="10000"/>
          </a:bodyPr>
          <a:lstStyle/>
          <a:p>
            <a:pPr fontAlgn="base"/>
            <a:r>
              <a:rPr lang="en-US" b="1" dirty="0"/>
              <a:t>Neural Network-Based Expert Systems</a:t>
            </a:r>
          </a:p>
          <a:p>
            <a:pPr fontAlgn="base"/>
            <a:r>
              <a:rPr lang="en-US" b="1" dirty="0"/>
              <a:t>I</a:t>
            </a:r>
            <a:r>
              <a:rPr lang="en-US" dirty="0"/>
              <a:t>ntegrate </a:t>
            </a:r>
            <a:r>
              <a:rPr lang="en-US" u="sng" dirty="0">
                <a:hlinkClick r:id="rId2"/>
              </a:rPr>
              <a:t>artificial neural networks</a:t>
            </a:r>
            <a:r>
              <a:rPr lang="en-US" dirty="0"/>
              <a:t> to </a:t>
            </a:r>
            <a:r>
              <a:rPr lang="en-US" b="1" dirty="0"/>
              <a:t>learn patterns from data</a:t>
            </a:r>
            <a:r>
              <a:rPr lang="en-US" dirty="0"/>
              <a:t> and improve decision-making. These systems are widely used in applications like </a:t>
            </a:r>
            <a:r>
              <a:rPr lang="en-US" b="1" dirty="0"/>
              <a:t>image recognition and speech processing</a:t>
            </a:r>
            <a:r>
              <a:rPr lang="en-US" dirty="0"/>
              <a:t>, where traditional rule-based approaches might struggle.</a:t>
            </a:r>
          </a:p>
          <a:p>
            <a:pPr fontAlgn="base"/>
            <a:r>
              <a:rPr lang="en-US" b="1" dirty="0"/>
              <a:t>5. Neuro-Fuzzy Expert Systems</a:t>
            </a:r>
          </a:p>
          <a:p>
            <a:pPr fontAlgn="base"/>
            <a:r>
              <a:rPr lang="en-US" dirty="0"/>
              <a:t>A more advanced hybrid approach is </a:t>
            </a:r>
            <a:r>
              <a:rPr lang="en-US" b="1" dirty="0"/>
              <a:t>Neuro-Fuzzy Expert Systems</a:t>
            </a:r>
            <a:r>
              <a:rPr lang="en-US" dirty="0"/>
              <a:t>, which merge the learning capabilities of </a:t>
            </a:r>
            <a:r>
              <a:rPr lang="en-US" u="sng" dirty="0">
                <a:hlinkClick r:id="rId3"/>
              </a:rPr>
              <a:t>neural networks</a:t>
            </a:r>
            <a:r>
              <a:rPr lang="en-US" dirty="0"/>
              <a:t> with the uncertainty-handling strengths of </a:t>
            </a:r>
            <a:r>
              <a:rPr lang="en-US" b="1" dirty="0"/>
              <a:t>fuzzy logic</a:t>
            </a:r>
            <a:r>
              <a:rPr lang="en-US" dirty="0"/>
              <a:t>. These systems are particularly useful in </a:t>
            </a:r>
            <a:r>
              <a:rPr lang="en-US" b="1" dirty="0"/>
              <a:t>financial forecasting</a:t>
            </a:r>
            <a:r>
              <a:rPr lang="en-US" dirty="0"/>
              <a:t> and </a:t>
            </a:r>
            <a:r>
              <a:rPr lang="en-US" b="1" dirty="0"/>
              <a:t>automated control systems</a:t>
            </a:r>
            <a:r>
              <a:rPr lang="en-US" dirty="0"/>
              <a:t>, where both structured learning and flexible reasoning are necessary.</a:t>
            </a:r>
          </a:p>
          <a:p>
            <a:endParaRPr lang="en-US" dirty="0"/>
          </a:p>
        </p:txBody>
      </p:sp>
    </p:spTree>
    <p:extLst>
      <p:ext uri="{BB962C8B-B14F-4D97-AF65-F5344CB8AC3E}">
        <p14:creationId xmlns:p14="http://schemas.microsoft.com/office/powerpoint/2010/main" val="133118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C239A-8A11-B344-B48E-D978A284166B}"/>
              </a:ext>
            </a:extLst>
          </p:cNvPr>
          <p:cNvSpPr>
            <a:spLocks noGrp="1"/>
          </p:cNvSpPr>
          <p:nvPr>
            <p:ph type="title"/>
          </p:nvPr>
        </p:nvSpPr>
        <p:spPr/>
        <p:txBody>
          <a:bodyPr/>
          <a:lstStyle/>
          <a:p>
            <a:r>
              <a:rPr lang="en-US" b="1" dirty="0"/>
              <a:t>Applications of Expert Systems</a:t>
            </a:r>
            <a:br>
              <a:rPr lang="en-US" b="1" dirty="0"/>
            </a:br>
            <a:endParaRPr lang="en-US" dirty="0"/>
          </a:p>
        </p:txBody>
      </p:sp>
      <p:sp>
        <p:nvSpPr>
          <p:cNvPr id="3" name="Content Placeholder 2">
            <a:extLst>
              <a:ext uri="{FF2B5EF4-FFF2-40B4-BE49-F238E27FC236}">
                <a16:creationId xmlns:a16="http://schemas.microsoft.com/office/drawing/2014/main" id="{04589C64-AA0D-1B78-C8EE-5AB682F89655}"/>
              </a:ext>
            </a:extLst>
          </p:cNvPr>
          <p:cNvSpPr>
            <a:spLocks noGrp="1"/>
          </p:cNvSpPr>
          <p:nvPr>
            <p:ph idx="1"/>
          </p:nvPr>
        </p:nvSpPr>
        <p:spPr/>
        <p:txBody>
          <a:bodyPr>
            <a:normAutofit fontScale="92500" lnSpcReduction="20000"/>
          </a:bodyPr>
          <a:lstStyle/>
          <a:p>
            <a:pPr fontAlgn="base"/>
            <a:r>
              <a:rPr lang="en-US" b="1" dirty="0"/>
              <a:t>Medical Diagnosis</a:t>
            </a:r>
            <a:r>
              <a:rPr lang="en-US" dirty="0"/>
              <a:t>: Expert systems assist doctors by analyzing symptoms and medical history to suggest possible diagnoses or treatment options. For example, MYCIN, an early expert system, helped identify bacterial infections and recommend antibiotics.</a:t>
            </a:r>
          </a:p>
          <a:p>
            <a:pPr fontAlgn="base"/>
            <a:r>
              <a:rPr lang="en-US" b="1" dirty="0"/>
              <a:t>Financial Services</a:t>
            </a:r>
            <a:r>
              <a:rPr lang="en-US" dirty="0"/>
              <a:t>: In finance, expert systems are used for credit scoring, fraud detection, and investment advice. They analyze financial data and patterns to make informed decisions.</a:t>
            </a:r>
          </a:p>
          <a:p>
            <a:pPr fontAlgn="base"/>
            <a:r>
              <a:rPr lang="en-US" b="1" dirty="0"/>
              <a:t>Technical Support</a:t>
            </a:r>
            <a:r>
              <a:rPr lang="en-US" dirty="0"/>
              <a:t>: Expert systems can troubleshoot and provide solutions for technical issues. They guide users through problem-solving steps based on pre-defined rules and knowledge.</a:t>
            </a:r>
          </a:p>
          <a:p>
            <a:pPr fontAlgn="base"/>
            <a:r>
              <a:rPr lang="en-US" b="1" dirty="0"/>
              <a:t>Manufacturing</a:t>
            </a:r>
            <a:r>
              <a:rPr lang="en-US" dirty="0"/>
              <a:t>: In manufacturing, expert systems help optimize production processes, perform quality control, and manage inventory by analyzing data and making recommendations.</a:t>
            </a:r>
          </a:p>
          <a:p>
            <a:endParaRPr lang="en-US" dirty="0"/>
          </a:p>
        </p:txBody>
      </p:sp>
    </p:spTree>
    <p:extLst>
      <p:ext uri="{BB962C8B-B14F-4D97-AF65-F5344CB8AC3E}">
        <p14:creationId xmlns:p14="http://schemas.microsoft.com/office/powerpoint/2010/main" val="2281352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D3FD-C92C-1D3C-AE01-DC55138B9B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980B4D-D08B-406A-11EF-559448ACF675}"/>
              </a:ext>
            </a:extLst>
          </p:cNvPr>
          <p:cNvSpPr>
            <a:spLocks noGrp="1"/>
          </p:cNvSpPr>
          <p:nvPr>
            <p:ph idx="1"/>
          </p:nvPr>
        </p:nvSpPr>
        <p:spPr/>
        <p:txBody>
          <a:bodyPr>
            <a:normAutofit fontScale="92500" lnSpcReduction="20000"/>
          </a:bodyPr>
          <a:lstStyle/>
          <a:p>
            <a:pPr fontAlgn="base"/>
            <a:r>
              <a:rPr lang="en-US" b="1" dirty="0"/>
              <a:t>Benefits of Expert Systems</a:t>
            </a:r>
          </a:p>
          <a:p>
            <a:pPr fontAlgn="base"/>
            <a:r>
              <a:rPr lang="en-US" b="1" dirty="0"/>
              <a:t>Consistency</a:t>
            </a:r>
            <a:r>
              <a:rPr lang="en-US" dirty="0"/>
              <a:t>: Expert systems provide consistent and reliable recommendations, reducing the variability that can occur with human decision-making.</a:t>
            </a:r>
          </a:p>
          <a:p>
            <a:pPr fontAlgn="base"/>
            <a:r>
              <a:rPr lang="en-US" b="1" dirty="0"/>
              <a:t>Availability</a:t>
            </a:r>
            <a:r>
              <a:rPr lang="en-US" dirty="0"/>
              <a:t>: They are available 24/7 and can handle multiple queries simultaneously, providing timely assistance and support.</a:t>
            </a:r>
          </a:p>
          <a:p>
            <a:pPr fontAlgn="base"/>
            <a:r>
              <a:rPr lang="en-US" b="1" dirty="0"/>
              <a:t>Cost-Effectiveness</a:t>
            </a:r>
            <a:r>
              <a:rPr lang="en-US" dirty="0"/>
              <a:t>: By automating expert-level decision-making, organizations can save on the costs associated with hiring and training human experts.</a:t>
            </a:r>
          </a:p>
          <a:p>
            <a:pPr fontAlgn="base"/>
            <a:r>
              <a:rPr lang="en-US" b="1" dirty="0"/>
              <a:t>Knowledge Preservation</a:t>
            </a:r>
            <a:r>
              <a:rPr lang="en-US" dirty="0"/>
              <a:t>: Expert systems preserve valuable knowledge and expertise, making it accessible even if the original experts are no longer available.</a:t>
            </a:r>
          </a:p>
          <a:p>
            <a:endParaRPr lang="en-US" dirty="0"/>
          </a:p>
        </p:txBody>
      </p:sp>
    </p:spTree>
    <p:extLst>
      <p:ext uri="{BB962C8B-B14F-4D97-AF65-F5344CB8AC3E}">
        <p14:creationId xmlns:p14="http://schemas.microsoft.com/office/powerpoint/2010/main" val="3650928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BDF41-3C8E-DE62-7A05-6F8241A883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F69F6B-55A8-5D1C-D7CB-1C3DBCA95E6C}"/>
              </a:ext>
            </a:extLst>
          </p:cNvPr>
          <p:cNvSpPr>
            <a:spLocks noGrp="1"/>
          </p:cNvSpPr>
          <p:nvPr>
            <p:ph idx="1"/>
          </p:nvPr>
        </p:nvSpPr>
        <p:spPr/>
        <p:txBody>
          <a:bodyPr>
            <a:normAutofit lnSpcReduction="10000"/>
          </a:bodyPr>
          <a:lstStyle/>
          <a:p>
            <a:pPr fontAlgn="base"/>
            <a:r>
              <a:rPr lang="en-US" b="1" dirty="0"/>
              <a:t>Limitations of Expert Systems</a:t>
            </a:r>
          </a:p>
          <a:p>
            <a:pPr fontAlgn="base"/>
            <a:r>
              <a:rPr lang="en-US" b="1" dirty="0"/>
              <a:t>Knowledge Limitation</a:t>
            </a:r>
            <a:r>
              <a:rPr lang="en-US" dirty="0"/>
              <a:t>: The effectiveness of an expert system depends on the completeness and accuracy of the knowledge base. If the knowledge is outdated or incomplete, the system's performance may be compromised.</a:t>
            </a:r>
          </a:p>
          <a:p>
            <a:pPr fontAlgn="base"/>
            <a:r>
              <a:rPr lang="en-US" b="1" dirty="0"/>
              <a:t>Lack of Flexibility</a:t>
            </a:r>
            <a:r>
              <a:rPr lang="en-US" dirty="0"/>
              <a:t>: Expert systems are limited to the rules and knowledge they are programmed with. They may struggle with novel or ambiguous situations that fall outside their predefined rules.</a:t>
            </a:r>
          </a:p>
          <a:p>
            <a:pPr fontAlgn="base"/>
            <a:r>
              <a:rPr lang="en-US" b="1" dirty="0"/>
              <a:t>Maintenance</a:t>
            </a:r>
            <a:r>
              <a:rPr lang="en-US" dirty="0"/>
              <a:t>: Regular updates and maintenance are required to keep the knowledge base current and relevant, which can be resource-intensive.</a:t>
            </a:r>
          </a:p>
          <a:p>
            <a:endParaRPr lang="en-US" dirty="0"/>
          </a:p>
        </p:txBody>
      </p:sp>
    </p:spTree>
    <p:extLst>
      <p:ext uri="{BB962C8B-B14F-4D97-AF65-F5344CB8AC3E}">
        <p14:creationId xmlns:p14="http://schemas.microsoft.com/office/powerpoint/2010/main" val="3113554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1537</Words>
  <Application>Microsoft Office PowerPoint</Application>
  <PresentationFormat>Widescreen</PresentationFormat>
  <Paragraphs>65</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Expert Systems in AI </vt:lpstr>
      <vt:lpstr>PowerPoint Presentation</vt:lpstr>
      <vt:lpstr>Why Are Expert Systems Important? </vt:lpstr>
      <vt:lpstr>1. Knowledge Base: The Heart of the System </vt:lpstr>
      <vt:lpstr>Inference Engine: The Brain Behind the Decisions </vt:lpstr>
      <vt:lpstr>User Interface: Bridging the Gap Between System and User </vt:lpstr>
      <vt:lpstr>Explanation Module: Building Trust Through Transparency </vt:lpstr>
      <vt:lpstr>Knowledge Acquisition Module: Keeping the System Up-to-Date </vt:lpstr>
      <vt:lpstr>PowerPoint Presentation</vt:lpstr>
      <vt:lpstr>PowerPoint Presentation</vt:lpstr>
      <vt:lpstr>Reasoning Strategies used by Inference Engine </vt:lpstr>
      <vt:lpstr>PowerPoint Presentation</vt:lpstr>
      <vt:lpstr>2. Backward Chaining </vt:lpstr>
      <vt:lpstr>PowerPoint Presentation</vt:lpstr>
      <vt:lpstr>How These Components Work Together? </vt:lpstr>
      <vt:lpstr>Types of Expert Systems in AI </vt:lpstr>
      <vt:lpstr>PowerPoint Presentation</vt:lpstr>
      <vt:lpstr>PowerPoint Presentation</vt:lpstr>
      <vt:lpstr>PowerPoint Presentation</vt:lpstr>
      <vt:lpstr>Applications of Expert Systems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33</cp:revision>
  <dcterms:created xsi:type="dcterms:W3CDTF">2026-01-18T18:41:29Z</dcterms:created>
  <dcterms:modified xsi:type="dcterms:W3CDTF">2026-01-18T18:47:32Z</dcterms:modified>
</cp:coreProperties>
</file>