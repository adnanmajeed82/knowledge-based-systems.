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51752-D776-49C0-864C-573107369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2AEF5-5FC4-BCF0-FB7A-A73298B49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A109D-496B-3487-9132-7A18FF5D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86E0E-1510-6D61-A95B-86491248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23436-DB3C-24F6-B270-90A7D688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3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2FB6-CD61-1B92-8A45-5551FAB1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7128F-444B-A2BB-5720-24E652E79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7B208-83BB-C46A-8606-D0A5A679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D7C76-2761-3A52-CEFD-25EA09C5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8FC9B-D2A1-6F3D-2A4B-8F7B2DDA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9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B2E0-321C-62FE-4705-503B1B26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9F258-276B-BA22-9119-189960EC6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7F16-1EA8-B07F-419F-814E511B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2BBD1-EE44-0C7B-01F7-946F135F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35800-66C8-3F6B-7772-78A7FB6D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8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48-7788-181D-EB22-096EC849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D59D2-23B3-485A-7E23-204E569C4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658CA-286F-8BBE-E48F-6FE3D5699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52CAA-C055-2658-93DD-4E672437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0D411-C375-615A-07A3-38125F70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64D4E-3780-A9D2-2CCA-8D6121FB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8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13D5-C31D-F3B1-4DBC-11969C23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70D43-6A5B-07CB-C390-58595154A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18DCB-7AE5-AFE8-40F1-8D9806137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AFEF9-F7F6-FE23-F009-AC6A0D7AB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D88FD-F34E-FFFD-4279-389EF7E5F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47220-A739-85BD-DFED-83DCD56F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CE096-24EF-7709-398B-8096CAC3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F5ADA-D88E-091C-18A6-C3B40F4E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04BB-BFF9-A9AA-6D36-281F29D7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C96F1-BF94-DAF8-4885-C3A59F6E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85850-B519-4B0D-170A-71A78CFD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FA422-D818-3CC7-964B-5AB88699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3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47283-7185-F115-4259-01725FC4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5E54A3-B74A-7E5F-E95A-4036A4AF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5D683-99A9-82EF-A809-DC210407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3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6DEF-8F65-D9DA-FA8C-D4914CF22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B34BD-62B1-61FD-7B78-CC53DF0F8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80666-D897-A266-109A-129C3137E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2368-E557-34EF-A90C-652815AE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21834-FF6A-8502-586D-C609F9FE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A166D-9592-36B9-F90B-2C9AED3F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6060-1724-1482-64FC-059F34AE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D8A7B-DFA9-C0F7-F639-1CEC382DE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C0F3-701B-A72D-E2EC-6B242494B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4B12A-354C-7143-5442-449FC826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F409-CCCF-1A67-53C1-84888ABEA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534EF-EABE-73A0-7830-08BFEB41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6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08C7-3B33-2ED4-C7B0-02B47996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EE7B4-9CFB-CE17-346E-50B683E88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64F0-1585-0E36-001B-2253C7BFD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ED08-BAE4-45B5-0009-02D2DCEA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DC31-BCF5-2520-AF77-FB15D658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7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F2322-4294-50A3-9825-9C5689FD4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83417-BCEA-536A-4D77-D4AA01C1D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B0CC-1AA5-CF33-2044-64573DA8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8A442-3164-0B7E-E277-46356FAE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FAB2B-E33E-C21B-2B7D-60ACD4F9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1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AD34E3-DE02-E965-3CD7-560BA8E3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A6D4-C79E-62B8-8BAC-148F1023E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BF9A-42DC-C3F8-0B77-CDFFCF378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0B06C-EE44-454D-92B5-92001E4A7BB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2D30-06E2-6DAE-30D7-D053478C0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1AF7-BA38-4801-FC57-FA2C7D82C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6C457-F813-4777-8C5B-ED5B15526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12F2-7947-EB68-0807-EB1CFF998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Uncertain Knowledge Certainty Factors Fuzzy Logic Basics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6824F-3AE5-D78D-AE68-9DA7E7AA9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</p:txBody>
      </p:sp>
    </p:spTree>
    <p:extLst>
      <p:ext uri="{BB962C8B-B14F-4D97-AF65-F5344CB8AC3E}">
        <p14:creationId xmlns:p14="http://schemas.microsoft.com/office/powerpoint/2010/main" val="172689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FBB4-4151-93DA-7606-92FE32E0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AA59-638E-40F8-028E-6437DFFD9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1. Uncertain Knowledge in Knowledge-Based Systems</a:t>
            </a:r>
          </a:p>
          <a:p>
            <a:r>
              <a:rPr lang="en-US" b="1" dirty="0"/>
              <a:t>1.1 Introduction to Uncertainty</a:t>
            </a:r>
          </a:p>
          <a:p>
            <a:r>
              <a:rPr lang="en-US" dirty="0"/>
              <a:t>In real-world problems, knowledge is often:</a:t>
            </a:r>
          </a:p>
          <a:p>
            <a:r>
              <a:rPr lang="en-US" dirty="0"/>
              <a:t>Incomplete</a:t>
            </a:r>
          </a:p>
          <a:p>
            <a:r>
              <a:rPr lang="en-US" dirty="0"/>
              <a:t>Imprecise</a:t>
            </a:r>
          </a:p>
          <a:p>
            <a:r>
              <a:rPr lang="en-US" dirty="0"/>
              <a:t>Ambiguous</a:t>
            </a:r>
          </a:p>
          <a:p>
            <a:r>
              <a:rPr lang="en-US" dirty="0"/>
              <a:t>Noisy</a:t>
            </a:r>
          </a:p>
          <a:p>
            <a:r>
              <a:rPr lang="en-US" dirty="0"/>
              <a:t>Contradictory</a:t>
            </a:r>
          </a:p>
          <a:p>
            <a:r>
              <a:rPr lang="en-US" dirty="0"/>
              <a:t>Knowledge-Based Systems (KBS), especially Expert Systems, must handle uncertainty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5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6755-F788-98BE-B05F-BA4916CA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10B6-F544-AA2C-8ECD-99A0047EF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Sources of Uncertainty</a:t>
            </a:r>
          </a:p>
          <a:p>
            <a:r>
              <a:rPr lang="en-US" b="1" dirty="0"/>
              <a:t>Incomplete Information</a:t>
            </a:r>
            <a:r>
              <a:rPr lang="en-US" dirty="0"/>
              <a:t> – Missing data (e.g., medical tests not done)</a:t>
            </a:r>
          </a:p>
          <a:p>
            <a:r>
              <a:rPr lang="en-US" b="1" dirty="0"/>
              <a:t>Measurement Errors</a:t>
            </a:r>
            <a:r>
              <a:rPr lang="en-US" dirty="0"/>
              <a:t> – Sensor inaccuracies</a:t>
            </a:r>
          </a:p>
          <a:p>
            <a:r>
              <a:rPr lang="en-US" b="1" dirty="0"/>
              <a:t>Ambiguity</a:t>
            </a:r>
            <a:r>
              <a:rPr lang="en-US" dirty="0"/>
              <a:t> – Vague concepts like “high temperature”</a:t>
            </a:r>
          </a:p>
          <a:p>
            <a:r>
              <a:rPr lang="en-US" b="1" dirty="0"/>
              <a:t>Conflicting Evidence</a:t>
            </a:r>
            <a:r>
              <a:rPr lang="en-US" dirty="0"/>
              <a:t> – Different experts give different rules</a:t>
            </a:r>
          </a:p>
          <a:p>
            <a:r>
              <a:rPr lang="en-US" b="1" dirty="0"/>
              <a:t>Randomness</a:t>
            </a:r>
            <a:r>
              <a:rPr lang="en-US" dirty="0"/>
              <a:t> – Inherent variability in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78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71F5-FBC1-1F96-E4C3-B1AB5616A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82297-C1D8-C7FA-2C4B-C65525F7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1.2 Types of Uncertainty</a:t>
            </a:r>
          </a:p>
          <a:p>
            <a:r>
              <a:rPr lang="en-US" b="1" dirty="0"/>
              <a:t>1. Aleatory Uncertainty (Randomness)</a:t>
            </a:r>
          </a:p>
          <a:p>
            <a:r>
              <a:rPr lang="en-US" dirty="0"/>
              <a:t>Caused by inherent variability</a:t>
            </a:r>
          </a:p>
          <a:p>
            <a:r>
              <a:rPr lang="en-US" dirty="0"/>
              <a:t>Example: Weather changes</a:t>
            </a:r>
          </a:p>
          <a:p>
            <a:r>
              <a:rPr lang="en-US" b="1" dirty="0"/>
              <a:t>2. Epistemic Uncertainty (Lack of Knowledge)</a:t>
            </a:r>
          </a:p>
          <a:p>
            <a:r>
              <a:rPr lang="en-US" dirty="0"/>
              <a:t>Caused by incomplete information</a:t>
            </a:r>
          </a:p>
          <a:p>
            <a:r>
              <a:rPr lang="en-US" dirty="0"/>
              <a:t>Example: Unknown patient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6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3B74-7F23-B965-4E40-C5CDCB77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CB43-17BD-61A4-A39E-2955057CB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1.3 Representing Uncertain Knowledge</a:t>
            </a:r>
          </a:p>
          <a:p>
            <a:r>
              <a:rPr lang="en-US" dirty="0"/>
              <a:t>Common approaches:</a:t>
            </a:r>
          </a:p>
          <a:p>
            <a:r>
              <a:rPr lang="en-US" dirty="0"/>
              <a:t>Probability Theory</a:t>
            </a:r>
          </a:p>
          <a:p>
            <a:r>
              <a:rPr lang="en-US" dirty="0"/>
              <a:t>Certainty Factors</a:t>
            </a:r>
          </a:p>
          <a:p>
            <a:r>
              <a:rPr lang="en-US" dirty="0"/>
              <a:t>Fuzzy Logic</a:t>
            </a:r>
          </a:p>
          <a:p>
            <a:r>
              <a:rPr lang="en-US" dirty="0"/>
              <a:t>Bayesian Networks</a:t>
            </a:r>
          </a:p>
          <a:p>
            <a:r>
              <a:rPr lang="en-US" dirty="0"/>
              <a:t>Dempster-Shafer Theory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88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3DAE-D43B-5DC7-4C98-2D5B4843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EB57-6F82-64E2-5A12-014C1DED4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1.4 Why Classical Logic is Not Enough?</a:t>
            </a:r>
          </a:p>
          <a:p>
            <a:r>
              <a:rPr lang="en-US" dirty="0"/>
              <a:t>Classical (Boolean) logic:</a:t>
            </a:r>
          </a:p>
          <a:p>
            <a:r>
              <a:rPr lang="en-US" dirty="0"/>
              <a:t>Statements are either </a:t>
            </a:r>
            <a:r>
              <a:rPr lang="en-US" b="1" dirty="0"/>
              <a:t>True (1)</a:t>
            </a:r>
            <a:r>
              <a:rPr lang="en-US" dirty="0"/>
              <a:t> or </a:t>
            </a:r>
            <a:r>
              <a:rPr lang="en-US" b="1" dirty="0"/>
              <a:t>False (0)</a:t>
            </a:r>
            <a:endParaRPr lang="en-US" dirty="0"/>
          </a:p>
          <a:p>
            <a:r>
              <a:rPr lang="en-US" dirty="0"/>
              <a:t>Cannot handle partial truths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“Patient has high fever.”</a:t>
            </a:r>
          </a:p>
          <a:p>
            <a:pPr lvl="1"/>
            <a:r>
              <a:rPr lang="en-US" dirty="0"/>
              <a:t>What if temperature is 99.5°F?</a:t>
            </a:r>
          </a:p>
          <a:p>
            <a:pPr lvl="1"/>
            <a:r>
              <a:rPr lang="en-US" dirty="0"/>
              <a:t>Not completely high, not completely normal.</a:t>
            </a:r>
          </a:p>
          <a:p>
            <a:r>
              <a:rPr lang="en-US" dirty="0"/>
              <a:t>Hence, uncertainty models are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00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29A9-088C-C1F9-7AF1-4B53603C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292B-3A57-A40C-B95D-CA45DBF53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Certainty Factors (CF)</a:t>
            </a:r>
          </a:p>
          <a:p>
            <a:r>
              <a:rPr lang="en-US" b="1" dirty="0"/>
              <a:t>2.1 Introduction</a:t>
            </a:r>
          </a:p>
          <a:p>
            <a:r>
              <a:rPr lang="en-US" dirty="0"/>
              <a:t>Certainty Factors were introduced in the medical expert system </a:t>
            </a:r>
            <a:r>
              <a:rPr lang="en-US" b="1" dirty="0"/>
              <a:t>MYCIN</a:t>
            </a:r>
            <a:r>
              <a:rPr lang="en-US" dirty="0"/>
              <a:t>.</a:t>
            </a:r>
          </a:p>
          <a:p>
            <a:r>
              <a:rPr lang="en-US" dirty="0"/>
              <a:t>They represent </a:t>
            </a:r>
            <a:r>
              <a:rPr lang="en-US" b="1" dirty="0"/>
              <a:t>degree of belief</a:t>
            </a:r>
            <a:r>
              <a:rPr lang="en-US" dirty="0"/>
              <a:t> in a hypothesis.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4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9794-938C-3D8B-2945-F29F67055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64E20-EE9B-C1D9-2FE8-A23F398D52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2.2 Definition</a:t>
                </a:r>
              </a:p>
              <a:p>
                <a:r>
                  <a:rPr lang="en-US" dirty="0"/>
                  <a:t>Certainty Factor (CF) measures how much evidence supports or refutes a hypothesis.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𝐶𝐹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𝐻</m:t>
                        </m:r>
                      </m:e>
                      <m:e>
                        <m:r>
                          <a:rPr lang="ar-AE" i="1"/>
                          <m:t>𝐸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𝑀𝐵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𝐻</m:t>
                        </m:r>
                      </m:e>
                      <m:e>
                        <m:r>
                          <a:rPr lang="ar-AE" i="1"/>
                          <m:t>𝐸</m:t>
                        </m:r>
                      </m:e>
                    </m:d>
                    <m:r>
                      <a:rPr lang="ar-AE"/>
                      <m:t>−</m:t>
                    </m:r>
                    <m:r>
                      <a:rPr lang="ar-AE" i="1"/>
                      <m:t>𝑀𝐷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𝐻</m:t>
                        </m:r>
                      </m:e>
                      <m:e>
                        <m:r>
                          <a:rPr lang="ar-AE" i="1"/>
                          <m:t>𝐸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b="1" dirty="0"/>
                  <a:t>MB</a:t>
                </a:r>
                <a:r>
                  <a:rPr lang="en-US" dirty="0"/>
                  <a:t> = Measure of Belief</a:t>
                </a:r>
              </a:p>
              <a:p>
                <a:r>
                  <a:rPr lang="en-US" b="1" dirty="0"/>
                  <a:t>MD</a:t>
                </a:r>
                <a:r>
                  <a:rPr lang="en-US" dirty="0"/>
                  <a:t> = Measure of Disbelief</a:t>
                </a:r>
              </a:p>
              <a:p>
                <a:r>
                  <a:rPr lang="en-US" dirty="0"/>
                  <a:t>CF range: </a:t>
                </a:r>
                <a:r>
                  <a:rPr lang="en-US" b="1" dirty="0"/>
                  <a:t>-1 to +1</a:t>
                </a:r>
                <a:endParaRPr lang="en-US" dirty="0"/>
              </a:p>
              <a:p>
                <a:r>
                  <a:rPr lang="en-US" b="1" dirty="0"/>
                  <a:t>Interpretation:</a:t>
                </a:r>
              </a:p>
              <a:p>
                <a:r>
                  <a:rPr lang="en-US" dirty="0"/>
                  <a:t>+1 → Complete belief</a:t>
                </a:r>
              </a:p>
              <a:p>
                <a:r>
                  <a:rPr lang="en-US" dirty="0"/>
                  <a:t>0 → No information</a:t>
                </a:r>
              </a:p>
              <a:p>
                <a:r>
                  <a:rPr lang="en-US" dirty="0"/>
                  <a:t>-1 → Complete disbelief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764E20-EE9B-C1D9-2FE8-A23F398D5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70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A8BE-959C-98E6-BF68-20059431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85B67-AF98-F272-9F0E-51AD9B2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2.3 Rule Format with Certainty Factor</a:t>
            </a:r>
          </a:p>
          <a:p>
            <a:r>
              <a:rPr lang="en-US" dirty="0"/>
              <a:t>IF Symptom A</a:t>
            </a:r>
            <a:br>
              <a:rPr lang="en-US" dirty="0"/>
            </a:br>
            <a:r>
              <a:rPr lang="en-US" dirty="0"/>
              <a:t>THEN Disease B</a:t>
            </a:r>
            <a:br>
              <a:rPr lang="en-US" dirty="0"/>
            </a:br>
            <a:r>
              <a:rPr lang="en-US" dirty="0"/>
              <a:t>CF = 0.8</a:t>
            </a:r>
          </a:p>
          <a:p>
            <a:r>
              <a:rPr lang="en-US" dirty="0"/>
              <a:t>Meaning: 80% confidence in conclusion.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558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83F2A-8DB4-BC0A-6908-4128C5D4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98D4CC-D722-8BB9-5F79-3DB00E9D4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2.4 Combining Certainty Factors</a:t>
                </a:r>
              </a:p>
              <a:p>
                <a:r>
                  <a:rPr lang="en-US" b="1" dirty="0"/>
                  <a:t>Case 1: Combining Evidence Supporting Same Hypothesis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𝐶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𝐹</m:t>
                        </m:r>
                      </m:e>
                      <m:sub>
                        <m:r>
                          <a:rPr lang="ar-AE" i="1"/>
                          <m:t>𝑐𝑜𝑚𝑏𝑖𝑛𝑒𝑑</m:t>
                        </m:r>
                      </m:sub>
                    </m:sSub>
                    <m:r>
                      <a:rPr lang="ar-AE"/>
                      <m:t>=</m:t>
                    </m:r>
                    <m:r>
                      <a:rPr lang="ar-AE" i="1"/>
                      <m:t>𝐶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𝐹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r>
                      <a:rPr lang="ar-AE"/>
                      <m:t>+</m:t>
                    </m:r>
                    <m:r>
                      <a:rPr lang="ar-AE" i="1"/>
                      <m:t>𝐶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𝐹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r>
                          <a:rPr lang="ar-AE" i="1"/>
                          <m:t>𝐶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𝐹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US" b="1" dirty="0"/>
                  <a:t>Case 2: Combining Conflicting Evidence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𝐶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𝐹</m:t>
                        </m:r>
                      </m:e>
                      <m:sub>
                        <m:r>
                          <a:rPr lang="ar-AE" i="1"/>
                          <m:t>𝑐𝑜𝑚𝑏𝑖𝑛𝑒𝑑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𝐶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𝐹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  <m:r>
                          <a:rPr lang="ar-AE"/>
                          <m:t>+</m:t>
                        </m:r>
                        <m:r>
                          <a:rPr lang="ar-AE" i="1"/>
                          <m:t>𝐶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𝐹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num>
                      <m:den>
                        <m:r>
                          <a:rPr lang="ar-AE"/>
                          <m:t>1</m:t>
                        </m:r>
                        <m:r>
                          <a:rPr lang="ar-AE"/>
                          <m:t>−</m:t>
                        </m:r>
                        <m:r>
                          <m:rPr>
                            <m:sty m:val="p"/>
                          </m:rPr>
                          <a:rPr lang="en-US"/>
                          <m:t>min</m:t>
                        </m:r>
                        <m:r>
                          <a:rPr lang="en-US"/>
                          <m:t>⁡</m:t>
                        </m:r>
                        <m:d>
                          <m:dPr>
                            <m:sepChr m:val=",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∣</m:t>
                            </m:r>
                          </m:e>
                          <m:e>
                            <m:r>
                              <a:rPr lang="ar-AE" i="1"/>
                              <m:t>𝐶</m:t>
                            </m:r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𝐹</m:t>
                                </m:r>
                              </m:e>
                              <m:sub>
                                <m:r>
                                  <a:rPr lang="ar-AE"/>
                                  <m:t>1</m:t>
                                </m:r>
                              </m:sub>
                            </m:sSub>
                            <m:r>
                              <a:rPr lang="ar-AE"/>
                              <m:t>∣∣</m:t>
                            </m:r>
                            <m:r>
                              <a:rPr lang="ar-AE" i="1"/>
                              <m:t>𝐶</m:t>
                            </m:r>
                            <m:sSub>
                              <m:sSubPr>
                                <m:ctrlPr>
                                  <a:rPr lang="ar-AE" i="1"/>
                                </m:ctrlPr>
                              </m:sSubPr>
                              <m:e>
                                <m:r>
                                  <a:rPr lang="ar-AE" i="1"/>
                                  <m:t>𝐹</m:t>
                                </m:r>
                              </m:e>
                              <m:sub>
                                <m:r>
                                  <a:rPr lang="ar-AE"/>
                                  <m:t>2</m:t>
                                </m:r>
                              </m:sub>
                            </m:sSub>
                            <m:r>
                              <a:rPr lang="ar-AE"/>
                              <m:t>∣</m:t>
                            </m:r>
                          </m:e>
                        </m:d>
                      </m:den>
                    </m:f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98D4CC-D722-8BB9-5F79-3DB00E9D4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65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5154-0BD8-A0C2-585E-D716A755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93090-5D41-41CC-24D5-CDF25FABF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2.5 Advantages of Certainty Factors</a:t>
            </a:r>
          </a:p>
          <a:p>
            <a:r>
              <a:rPr lang="en-US" dirty="0"/>
              <a:t>Simple to implement</a:t>
            </a:r>
          </a:p>
          <a:p>
            <a:r>
              <a:rPr lang="en-US" dirty="0"/>
              <a:t>Intuitive</a:t>
            </a:r>
          </a:p>
          <a:p>
            <a:r>
              <a:rPr lang="en-US" dirty="0"/>
              <a:t>Suitable for rule-based systems</a:t>
            </a:r>
          </a:p>
          <a:p>
            <a:r>
              <a:rPr lang="en-US" dirty="0"/>
              <a:t>Computationally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0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745E-4D4F-862A-1BCE-4A69123C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A3F0-3F77-4B60-11E0-EFA3A510D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2.6 Limitations</a:t>
            </a:r>
          </a:p>
          <a:p>
            <a:r>
              <a:rPr lang="en-US" dirty="0"/>
              <a:t>Not mathematically rigorous like probability</a:t>
            </a:r>
          </a:p>
          <a:p>
            <a:r>
              <a:rPr lang="en-US" dirty="0"/>
              <a:t>Subjective assignment of CF values</a:t>
            </a:r>
          </a:p>
          <a:p>
            <a:r>
              <a:rPr lang="en-US" dirty="0"/>
              <a:t>Not ideal for complex dependencies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77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6835-50A5-8379-D38A-A480A94F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4B07-D425-B79E-8F7A-C3EEA3935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Fuzzy Logic Basics</a:t>
            </a:r>
          </a:p>
          <a:p>
            <a:r>
              <a:rPr lang="en-US" b="1" dirty="0"/>
              <a:t>3.1 Introduction</a:t>
            </a:r>
          </a:p>
          <a:p>
            <a:r>
              <a:rPr lang="en-US" dirty="0"/>
              <a:t>Fuzzy Logic was introduced by </a:t>
            </a:r>
            <a:r>
              <a:rPr lang="en-US" b="1" dirty="0"/>
              <a:t>Lotfi A. Zadeh</a:t>
            </a:r>
            <a:r>
              <a:rPr lang="en-US" dirty="0"/>
              <a:t> in 1965.</a:t>
            </a:r>
          </a:p>
          <a:p>
            <a:r>
              <a:rPr lang="en-US" dirty="0"/>
              <a:t>Unlike classical logic:</a:t>
            </a:r>
          </a:p>
          <a:p>
            <a:r>
              <a:rPr lang="en-US" dirty="0"/>
              <a:t>Truth values range between </a:t>
            </a:r>
            <a:r>
              <a:rPr lang="en-US" b="1" dirty="0"/>
              <a:t>0 and 1</a:t>
            </a:r>
            <a:endParaRPr lang="en-US" dirty="0"/>
          </a:p>
          <a:p>
            <a:r>
              <a:rPr lang="en-US" dirty="0"/>
              <a:t>Handles vagueness instead of randomness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84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61E98-D088-B21D-1F5E-8A423368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76150-0EE2-5ABF-2544-5652654D1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3.2 Classical vs Fuzzy </a:t>
            </a:r>
            <a:r>
              <a:rPr lang="en-US" dirty="0" err="1"/>
              <a:t>LogicClassical</a:t>
            </a:r>
            <a:r>
              <a:rPr lang="en-US" dirty="0"/>
              <a:t> Logic	Fuzzy </a:t>
            </a:r>
            <a:r>
              <a:rPr lang="en-US" dirty="0" err="1"/>
              <a:t>LogicTrue</a:t>
            </a:r>
            <a:r>
              <a:rPr lang="en-US" dirty="0"/>
              <a:t> or False	Partial truth (0 to 1)Crisp sets	Fuzzy </a:t>
            </a:r>
            <a:r>
              <a:rPr lang="en-US" dirty="0" err="1"/>
              <a:t>setsSharp</a:t>
            </a:r>
            <a:r>
              <a:rPr lang="en-US" dirty="0"/>
              <a:t> boundaries	Gradual boundaries</a:t>
            </a:r>
          </a:p>
        </p:txBody>
      </p:sp>
    </p:spTree>
    <p:extLst>
      <p:ext uri="{BB962C8B-B14F-4D97-AF65-F5344CB8AC3E}">
        <p14:creationId xmlns:p14="http://schemas.microsoft.com/office/powerpoint/2010/main" val="1802787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561AC-5CC2-C6B9-D4C4-4832CA0F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9D023-B31E-E8F4-3FB4-0BB459E49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3.3 Fuzzy Sets</a:t>
            </a:r>
          </a:p>
          <a:p>
            <a:r>
              <a:rPr lang="en-US" dirty="0"/>
              <a:t>In classical sets:</a:t>
            </a:r>
          </a:p>
          <a:p>
            <a:r>
              <a:rPr lang="en-US" dirty="0"/>
              <a:t>x ∈ A → 1</a:t>
            </a:r>
          </a:p>
          <a:p>
            <a:r>
              <a:rPr lang="en-US" dirty="0"/>
              <a:t>x ∉ A → 0</a:t>
            </a:r>
          </a:p>
          <a:p>
            <a:r>
              <a:rPr lang="en-US" dirty="0"/>
              <a:t>In fuzzy sets:</a:t>
            </a:r>
          </a:p>
          <a:p>
            <a:r>
              <a:rPr lang="en-US" dirty="0"/>
              <a:t>Each element has </a:t>
            </a:r>
            <a:r>
              <a:rPr lang="en-US" b="1" dirty="0"/>
              <a:t>membership degree (µ)</a:t>
            </a:r>
            <a:r>
              <a:rPr lang="en-US" dirty="0"/>
              <a:t> between 0 and 1.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Temperature = 30°C</a:t>
            </a:r>
          </a:p>
          <a:p>
            <a:r>
              <a:rPr lang="en-US" dirty="0"/>
              <a:t>Membership in “Hot” = 0.7</a:t>
            </a:r>
          </a:p>
          <a:p>
            <a:r>
              <a:rPr lang="en-US" dirty="0"/>
              <a:t>Membership in “Warm” = 0.5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5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46642-5B17-56A5-0998-34333D60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3956-5FF4-3703-0969-CB3B06D72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3.4 Membership Function</a:t>
            </a:r>
          </a:p>
          <a:p>
            <a:r>
              <a:rPr lang="en-US" dirty="0"/>
              <a:t>A membership function defines how each input maps to membership value.</a:t>
            </a:r>
          </a:p>
          <a:p>
            <a:r>
              <a:rPr lang="en-US" dirty="0"/>
              <a:t>Common shapes:</a:t>
            </a:r>
          </a:p>
          <a:p>
            <a:r>
              <a:rPr lang="en-US" dirty="0"/>
              <a:t>Triangular</a:t>
            </a:r>
          </a:p>
          <a:p>
            <a:r>
              <a:rPr lang="en-US" dirty="0"/>
              <a:t>Trapezoidal</a:t>
            </a:r>
          </a:p>
          <a:p>
            <a:r>
              <a:rPr lang="en-US" dirty="0"/>
              <a:t>Gaussian</a:t>
            </a:r>
          </a:p>
          <a:p>
            <a:r>
              <a:rPr lang="en-US" dirty="0"/>
              <a:t>Sigmoid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8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B0346-A060-B6BB-529E-A14304AF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5DA8A-FDF0-44AB-6724-5EEF2739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 Fuzzy Rule-Based System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Fuzzification</a:t>
            </a:r>
          </a:p>
          <a:p>
            <a:r>
              <a:rPr lang="en-US" dirty="0"/>
              <a:t>Rule Base</a:t>
            </a:r>
          </a:p>
          <a:p>
            <a:r>
              <a:rPr lang="en-US" dirty="0"/>
              <a:t>Inference Engine</a:t>
            </a:r>
          </a:p>
          <a:p>
            <a:r>
              <a:rPr lang="en-US" dirty="0"/>
              <a:t>Defuzzification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19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C727-9BAF-9498-BF38-24ECC257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42B7C-8B5F-7753-4359-F2C69F97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3.5.1 Fuzzification</a:t>
            </a:r>
          </a:p>
          <a:p>
            <a:r>
              <a:rPr lang="en-US" dirty="0"/>
              <a:t>Converts crisp input into fuzzy values.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Temperature = 35°C</a:t>
            </a:r>
            <a:br>
              <a:rPr lang="en-US" dirty="0"/>
            </a:br>
            <a:r>
              <a:rPr lang="en-US" dirty="0"/>
              <a:t>→ Hot = 0.8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265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9BDCF-7F5E-CE0A-79C8-6E987C67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8F9C9-F6F8-3B10-AF69-38A67F9E0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3.5.2 Fuzzy Rule</a:t>
            </a:r>
          </a:p>
          <a:p>
            <a:r>
              <a:rPr lang="en-US" dirty="0"/>
              <a:t>IF Temperature is Hot</a:t>
            </a:r>
            <a:br>
              <a:rPr lang="en-US" dirty="0"/>
            </a:br>
            <a:r>
              <a:rPr lang="en-US" dirty="0"/>
              <a:t>THEN Fan Speed is High</a:t>
            </a:r>
          </a:p>
          <a:p>
            <a:r>
              <a:rPr lang="en-US" dirty="0"/>
              <a:t>Rules are written in linguistic 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42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46D3-7D0C-AF14-87B9-72C1BA54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E708-3AC6-CD2D-1ED5-A4A139238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3.5.3 Inference Mechanism</a:t>
            </a:r>
          </a:p>
          <a:p>
            <a:r>
              <a:rPr lang="en-US" dirty="0"/>
              <a:t>Common methods:</a:t>
            </a:r>
          </a:p>
          <a:p>
            <a:r>
              <a:rPr lang="en-US" dirty="0"/>
              <a:t>Mamdani Inference</a:t>
            </a:r>
          </a:p>
          <a:p>
            <a:r>
              <a:rPr lang="en-US" dirty="0" err="1"/>
              <a:t>Sugeno</a:t>
            </a:r>
            <a:r>
              <a:rPr lang="en-US" dirty="0"/>
              <a:t> Inference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5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0E7A-80EC-AED4-FFF1-F596CA37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6EE37-C9F3-21FB-FEC7-288D5CFE8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3.5.4 Defuzzification</a:t>
            </a:r>
          </a:p>
          <a:p>
            <a:r>
              <a:rPr lang="en-US" dirty="0"/>
              <a:t>Converts fuzzy output into crisp value.</a:t>
            </a:r>
          </a:p>
          <a:p>
            <a:r>
              <a:rPr lang="en-US" dirty="0"/>
              <a:t>Common methods:</a:t>
            </a:r>
          </a:p>
          <a:p>
            <a:r>
              <a:rPr lang="en-US" dirty="0"/>
              <a:t>Centroid Method (most popular)</a:t>
            </a:r>
          </a:p>
          <a:p>
            <a:r>
              <a:rPr lang="en-US" dirty="0"/>
              <a:t>Mean of Maximum</a:t>
            </a:r>
          </a:p>
          <a:p>
            <a:r>
              <a:rPr lang="en-US" dirty="0"/>
              <a:t>Weighted Average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49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5DDC-FFA9-5C99-9E3E-98B4CA3B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7800D-F02B-3900-F983-C8599AC64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3.6 Applications of Fuzzy Logic</a:t>
            </a:r>
          </a:p>
          <a:p>
            <a:r>
              <a:rPr lang="en-US" dirty="0"/>
              <a:t>Washing machines</a:t>
            </a:r>
          </a:p>
          <a:p>
            <a:r>
              <a:rPr lang="en-US" dirty="0"/>
              <a:t>Air conditioners</a:t>
            </a:r>
          </a:p>
          <a:p>
            <a:r>
              <a:rPr lang="en-US" dirty="0"/>
              <a:t>Camera autofocus</a:t>
            </a:r>
          </a:p>
          <a:p>
            <a:r>
              <a:rPr lang="en-US" dirty="0"/>
              <a:t>Traffic control systems</a:t>
            </a:r>
          </a:p>
          <a:p>
            <a:r>
              <a:rPr lang="en-US" dirty="0"/>
              <a:t>Medical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163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1014-E6EE-E64E-B64B-2B86DB00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43E8-F009-C6A1-4130-A66479ED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3.7 Advantages of Fuzzy Logic</a:t>
            </a:r>
          </a:p>
          <a:p>
            <a:r>
              <a:rPr lang="en-US" dirty="0"/>
              <a:t>Handles vagueness effectively</a:t>
            </a:r>
          </a:p>
          <a:p>
            <a:r>
              <a:rPr lang="en-US" dirty="0"/>
              <a:t>Easy to model expert knowledge</a:t>
            </a:r>
          </a:p>
          <a:p>
            <a:r>
              <a:rPr lang="en-US" dirty="0"/>
              <a:t>No need for precise mathematical model</a:t>
            </a:r>
          </a:p>
          <a:p>
            <a:r>
              <a:rPr lang="en-US" dirty="0"/>
              <a:t>Human-like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798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8370-B469-5682-65F3-0D6C2D8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834A-2F8D-68B7-3D80-3F447323A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3.8 Limitations</a:t>
            </a:r>
          </a:p>
          <a:p>
            <a:r>
              <a:rPr lang="en-US" dirty="0"/>
              <a:t>Rule explosion in large systems</a:t>
            </a:r>
          </a:p>
          <a:p>
            <a:r>
              <a:rPr lang="en-US" dirty="0"/>
              <a:t>Subjective membership functions</a:t>
            </a:r>
          </a:p>
          <a:p>
            <a:r>
              <a:rPr lang="en-US" dirty="0"/>
              <a:t>Not suitable for purely probabilistic 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88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F1A7-478F-A235-C234-4F9E45B1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96EA87-CEB7-4F81-6C1F-87D664A5A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5680" y="2748581"/>
            <a:ext cx="6020640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81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BBD2-0D38-8D14-8E46-0F3BC3CF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3B4F-3EE9-BD84-A92B-A34A8B885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Summary</a:t>
            </a:r>
          </a:p>
          <a:p>
            <a:r>
              <a:rPr lang="en-US" dirty="0"/>
              <a:t>Real-world knowledge is uncertain and imprecise.</a:t>
            </a:r>
          </a:p>
          <a:p>
            <a:r>
              <a:rPr lang="en-US" dirty="0"/>
              <a:t>Classical logic cannot handle partial truths.</a:t>
            </a:r>
          </a:p>
          <a:p>
            <a:r>
              <a:rPr lang="en-US" dirty="0"/>
              <a:t>Certainty Factors model degree of belief.</a:t>
            </a:r>
          </a:p>
          <a:p>
            <a:r>
              <a:rPr lang="en-US" dirty="0"/>
              <a:t>Fuzzy Logic models vagueness using membership functions.</a:t>
            </a:r>
          </a:p>
          <a:p>
            <a:r>
              <a:rPr lang="en-US"/>
              <a:t>Both techniques are essential in Knowledge-Based Systems.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4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708</Words>
  <Application>Microsoft Office PowerPoint</Application>
  <PresentationFormat>Widescreen</PresentationFormat>
  <Paragraphs>139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Uncertain Knowledge Certainty Factors Fuzzy Logic Basics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2026-02-18T06:46:37Z</dcterms:created>
  <dcterms:modified xsi:type="dcterms:W3CDTF">2026-02-18T06:55:41Z</dcterms:modified>
</cp:coreProperties>
</file>