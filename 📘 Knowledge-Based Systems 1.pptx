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60BB3-3896-600E-2084-4C1BF5903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0910F-B3B8-1B4A-5499-87246B025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5278C-15EF-AB16-B704-5D7F5239E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1D65-B0A5-406F-98C7-46B2F2E5505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D3407-A624-0051-CD74-12BC7220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59219-6755-4E2C-E993-F296BF7F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EC3C8-D7ED-4E3D-84A2-4C5CDF2D7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0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A4E69-798E-B08A-2F07-72F076F84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A1B4E-69E3-823C-3D51-7517D5A9B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8FF2A-B7D9-24E3-7C5D-C6158F09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1D65-B0A5-406F-98C7-46B2F2E5505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7D3D2-8C48-ED4C-0019-437B8DD34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F6FBA-7237-E789-B50A-8EA8D3D5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EC3C8-D7ED-4E3D-84A2-4C5CDF2D7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9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3E78-A0E4-4273-61AF-D2950BBC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5AA23-DFBD-013A-E332-21DE75903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EBEE0-E722-7F90-2B16-356479AD9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1D65-B0A5-406F-98C7-46B2F2E5505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C9EC2-241C-34A6-EF36-DA0DEA9B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7BB98-DF33-4F03-D3CC-269CFAEB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EC3C8-D7ED-4E3D-84A2-4C5CDF2D7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3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B22-237B-A963-BC6F-9A6B7E401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E057C-7BA6-D3DA-1DD5-79DA416EB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CFB8E-3A64-F766-25A5-1B4083291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32BB5-408D-FF48-11FC-95FF0513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1D65-B0A5-406F-98C7-46B2F2E5505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626AD-9324-752B-5C23-199D11A3D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0A35F-A47C-D857-8E3F-5B771E89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EC3C8-D7ED-4E3D-84A2-4C5CDF2D7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08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AD081-0D02-3A66-52D9-1FA145218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24010-C4C6-31DB-15BD-BA50C77CA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04B3A-266F-930E-C4F0-6B698189F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0F2F9B-6C31-F4D6-E8CB-E5599ABDD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FFC45-6F15-E276-4050-5AE1D91B6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6EFC7-4B31-7D85-6700-9B58B2D72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1D65-B0A5-406F-98C7-46B2F2E5505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EF746-F3E0-F5FD-E7CF-BD858D60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DC49F-3367-6CFC-1CC8-349E825D3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EC3C8-D7ED-4E3D-84A2-4C5CDF2D7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98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4249D-6D8C-809C-AC98-F97FD911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C7693B-3A17-4394-D92B-954D60632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1D65-B0A5-406F-98C7-46B2F2E5505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8D95C-B1BC-A627-2E29-6978D5215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93097-945B-0A88-6BA6-BB4F0282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EC3C8-D7ED-4E3D-84A2-4C5CDF2D7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4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105A13-73D5-9CBD-5DCF-8ACF547C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1D65-B0A5-406F-98C7-46B2F2E5505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FA708-43F6-80B3-C86F-42628216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1C357-A5C4-F4FE-D1A1-D7F26F11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EC3C8-D7ED-4E3D-84A2-4C5CDF2D7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4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CEF96-5170-D1EB-4588-5D3F1BD7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8ED67-32CE-1832-98AD-764CE9BC0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F7A19-DE46-F3B9-9560-2C20E62EB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1A27B-BCA3-3041-2A71-5650C051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1D65-B0A5-406F-98C7-46B2F2E5505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A5A55-BBD5-1BD9-9ACF-E791D88FC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86EA8-49DC-FD81-1CD2-B2991C505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EC3C8-D7ED-4E3D-84A2-4C5CDF2D7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64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B154-6706-AC88-8D10-6E1D29F21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6F362-5045-928D-51EE-EC9FD14E0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9F756-6F8A-4E89-0D2B-009D85915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9DB0F-6694-60F6-3861-D81461CD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1D65-B0A5-406F-98C7-46B2F2E5505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7F0A1-C6F4-0625-0F18-FD49658F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86283-0D99-2C2C-E924-40160A81F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EC3C8-D7ED-4E3D-84A2-4C5CDF2D7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46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3C0E-1681-D9F0-BB04-DFB0E6195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1FE17-A926-5531-C201-E12D3EA0B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E6E3-A065-61FD-64A2-528A6271E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1D65-B0A5-406F-98C7-46B2F2E5505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9ECB3-7D9B-5313-EF2E-7F3CF91BF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ECC19-A565-98C6-9495-75118A4F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EC3C8-D7ED-4E3D-84A2-4C5CDF2D7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44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D829F5-CEFA-4220-3E39-FAEE3A3561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7748B-95A9-E98F-7AEA-27216ABF9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4EE3E-D71D-6416-9296-851753A9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1D65-B0A5-406F-98C7-46B2F2E5505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7D0F0-877A-6008-D8E5-17152B12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0529F-5C8C-DE04-A324-E654D782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EC3C8-D7ED-4E3D-84A2-4C5CDF2D7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4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EAB88-7CD6-234E-A5E2-E9C26434F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60800-7028-C8FD-1BD3-6B95C7225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A8450-7132-306F-8B1F-8B8D3B16A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D1D65-B0A5-406F-98C7-46B2F2E5505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F1016-1837-4ACE-0C17-39B72D7AA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CDB5-18A7-EDC1-62E5-A4FBB5C68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EC3C8-D7ED-4E3D-84A2-4C5CDF2D7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9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B9DB-6DE6-E330-C085-3CB910F36B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📘 Knowledge-Based Systems</a:t>
            </a:r>
            <a:br>
              <a:rPr lang="en-US" sz="3600" b="1" dirty="0"/>
            </a:br>
            <a:r>
              <a:rPr lang="en-US" sz="3600" b="1" dirty="0"/>
              <a:t>Lecture 1: Introduction to AI &amp; Knowledge-Based Systems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39A62-5B56-AE63-7F42-AB956C8186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Data Scientist &amp; Researcher </a:t>
            </a:r>
          </a:p>
        </p:txBody>
      </p:sp>
    </p:spTree>
    <p:extLst>
      <p:ext uri="{BB962C8B-B14F-4D97-AF65-F5344CB8AC3E}">
        <p14:creationId xmlns:p14="http://schemas.microsoft.com/office/powerpoint/2010/main" val="210501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FF770-6A01-B10F-4903-58E916FC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7F0FC-5880-7BE0-152F-04E228490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Overview of Artificial Intelligence (AI)</a:t>
            </a:r>
          </a:p>
          <a:p>
            <a:r>
              <a:rPr lang="en-US" b="1" dirty="0"/>
              <a:t>Definition of Artificial Intelligence</a:t>
            </a:r>
          </a:p>
          <a:p>
            <a:r>
              <a:rPr lang="en-US" dirty="0"/>
              <a:t>Artificial Intelligence (AI) is a branch of computer science that focuses on </a:t>
            </a:r>
            <a:r>
              <a:rPr lang="en-US" b="1" dirty="0"/>
              <a:t>creating intelligent machines</a:t>
            </a:r>
            <a:r>
              <a:rPr lang="en-US" dirty="0"/>
              <a:t> capable of performing tasks that normally require </a:t>
            </a:r>
            <a:r>
              <a:rPr lang="en-US" b="1" dirty="0"/>
              <a:t>human intelligence</a:t>
            </a:r>
            <a:r>
              <a:rPr lang="en-US" dirty="0"/>
              <a:t>, such as learning, reasoning, problem-solving, and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629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82A34-8FC1-BDCC-6BAD-905C7DA64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00BC3-145A-1DE7-80F0-A7F282DF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Characteristics of AI</a:t>
            </a:r>
          </a:p>
          <a:p>
            <a:r>
              <a:rPr lang="en-US" dirty="0"/>
              <a:t>Learning from data and experience</a:t>
            </a:r>
          </a:p>
          <a:p>
            <a:r>
              <a:rPr lang="en-US" dirty="0"/>
              <a:t>Reasoning and problem solving</a:t>
            </a:r>
          </a:p>
          <a:p>
            <a:r>
              <a:rPr lang="en-US" dirty="0"/>
              <a:t>Knowledge representation</a:t>
            </a:r>
          </a:p>
          <a:p>
            <a:r>
              <a:rPr lang="en-US" dirty="0"/>
              <a:t>Perception and understanding</a:t>
            </a:r>
          </a:p>
          <a:p>
            <a:r>
              <a:rPr lang="en-US" dirty="0"/>
              <a:t>Autonomous decision 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949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F68EE-487D-961D-5908-E9F6608CD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469D-51DB-91B4-F3F4-4827CEC52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Major Areas of AI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Knowledge-Based Systems</a:t>
            </a:r>
          </a:p>
          <a:p>
            <a:r>
              <a:rPr lang="en-US" dirty="0"/>
              <a:t>Expert Systems</a:t>
            </a:r>
          </a:p>
          <a:p>
            <a:r>
              <a:rPr lang="en-US" dirty="0"/>
              <a:t>Natural Language Processing</a:t>
            </a:r>
          </a:p>
          <a:p>
            <a:r>
              <a:rPr lang="en-US" dirty="0"/>
              <a:t>Computer Vision</a:t>
            </a:r>
          </a:p>
          <a:p>
            <a:r>
              <a:rPr lang="en-US" dirty="0"/>
              <a:t>Robotics</a:t>
            </a:r>
          </a:p>
          <a:p>
            <a:r>
              <a:rPr lang="en-US" dirty="0"/>
              <a:t>📌 </a:t>
            </a:r>
            <a:r>
              <a:rPr lang="en-US" b="1" dirty="0"/>
              <a:t>Note:</a:t>
            </a:r>
            <a:r>
              <a:rPr lang="en-US" dirty="0"/>
              <a:t> Knowledge-Based Systems are among the </a:t>
            </a:r>
            <a:r>
              <a:rPr lang="en-US" b="1" dirty="0"/>
              <a:t>earliest and most practical applications</a:t>
            </a:r>
            <a:r>
              <a:rPr lang="en-US" dirty="0"/>
              <a:t> of AI.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308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BDC0-940A-215D-21C6-C72ECF35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F19BB-62C9-9111-C1F8-194A8B5B7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Definition &amp; Scope of Knowledge-Based Systems (KBS)</a:t>
            </a:r>
          </a:p>
          <a:p>
            <a:r>
              <a:rPr lang="en-US" b="1" dirty="0"/>
              <a:t>Definition of Knowledge-Based Systems</a:t>
            </a:r>
          </a:p>
          <a:p>
            <a:r>
              <a:rPr lang="en-US" dirty="0"/>
              <a:t>A Knowledge-Based System (KBS) is an AI system that </a:t>
            </a:r>
            <a:r>
              <a:rPr lang="en-US" b="1" dirty="0"/>
              <a:t>stores expert knowledge</a:t>
            </a:r>
            <a:r>
              <a:rPr lang="en-US" dirty="0"/>
              <a:t> and applies </a:t>
            </a:r>
            <a:r>
              <a:rPr lang="en-US" b="1" dirty="0"/>
              <a:t>reasoning mechanisms</a:t>
            </a:r>
            <a:r>
              <a:rPr lang="en-US" dirty="0"/>
              <a:t> to solve complex problems in a specific domain, similar to a human expert.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81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47D5-A195-536F-FB1D-FD42FA56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801F2-205F-9BD3-1B25-70E1B619F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Core Components of KBS</a:t>
            </a:r>
          </a:p>
          <a:p>
            <a:r>
              <a:rPr lang="en-US" b="1" dirty="0"/>
              <a:t>Knowledge Base</a:t>
            </a:r>
            <a:r>
              <a:rPr lang="en-US" dirty="0"/>
              <a:t> – Stores facts, rules, and domain knowledge</a:t>
            </a:r>
          </a:p>
          <a:p>
            <a:r>
              <a:rPr lang="en-US" b="1" dirty="0"/>
              <a:t>Inference Engine</a:t>
            </a:r>
            <a:r>
              <a:rPr lang="en-US" dirty="0"/>
              <a:t> – Applies logical rules to derive conclusions</a:t>
            </a:r>
          </a:p>
          <a:p>
            <a:r>
              <a:rPr lang="en-US" b="1" dirty="0"/>
              <a:t>Explanation System</a:t>
            </a:r>
            <a:r>
              <a:rPr lang="en-US" dirty="0"/>
              <a:t> – Explains reasoning to the user</a:t>
            </a:r>
          </a:p>
          <a:p>
            <a:r>
              <a:rPr lang="en-US" b="1" dirty="0"/>
              <a:t>User Interface</a:t>
            </a:r>
            <a:r>
              <a:rPr lang="en-US" dirty="0"/>
              <a:t> – Allows interaction with the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68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5657E-ECE1-68AA-B916-11E0DC204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A1C12-49D9-9898-BC4F-0779FA03F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Scope of Knowledge-Based Systems</a:t>
            </a:r>
          </a:p>
          <a:p>
            <a:r>
              <a:rPr lang="en-US" dirty="0"/>
              <a:t>KBS are used where:</a:t>
            </a:r>
          </a:p>
          <a:p>
            <a:r>
              <a:rPr lang="en-US" dirty="0"/>
              <a:t>Human expertise is scarce or expensive</a:t>
            </a:r>
          </a:p>
          <a:p>
            <a:r>
              <a:rPr lang="en-US" dirty="0"/>
              <a:t>Decisions require consistency</a:t>
            </a:r>
          </a:p>
          <a:p>
            <a:r>
              <a:rPr lang="en-US" dirty="0"/>
              <a:t>Knowledge can be formalized into rules</a:t>
            </a:r>
          </a:p>
          <a:p>
            <a:r>
              <a:rPr lang="en-US" dirty="0"/>
              <a:t>📌 KBS are widely applied in </a:t>
            </a:r>
            <a:r>
              <a:rPr lang="en-US" b="1" dirty="0"/>
              <a:t>decision support and advisory systems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03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65252-F8BD-2262-FAED-2AFD96EF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3. Difference Between Conventional Systems &amp; KBS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2BC9BC-C1D4-07FE-3E31-6983D49988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29161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400064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2368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Conventional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Knowledge-Based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58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Hard-coded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Knowledge-driven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21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039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Reasoning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Procedural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Rule-based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525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63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523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8A5E-1260-C382-F4E3-C2D917603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3F1FB-B1A1-60C3-2AC0-28EABE7AB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. Real-World Examples &amp; Applications of KBS</a:t>
            </a:r>
          </a:p>
          <a:p>
            <a:r>
              <a:rPr lang="en-US" b="1" dirty="0"/>
              <a:t>4.1 Medical Diagnosis</a:t>
            </a:r>
          </a:p>
          <a:p>
            <a:r>
              <a:rPr lang="en-US" dirty="0"/>
              <a:t>Disease identification based on symptoms</a:t>
            </a:r>
          </a:p>
          <a:p>
            <a:r>
              <a:rPr lang="en-US" dirty="0"/>
              <a:t>Example: MYCIN (blood infection diagnosis)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05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16C5A-7FAD-3F95-2A00-75568326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1F02-DED7-7460-4202-4EBE2786C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4.2 Business &amp; Finance</a:t>
            </a:r>
          </a:p>
          <a:p>
            <a:r>
              <a:rPr lang="en-US" dirty="0"/>
              <a:t>Credit approval systems</a:t>
            </a:r>
          </a:p>
          <a:p>
            <a:r>
              <a:rPr lang="en-US" dirty="0"/>
              <a:t>Risk assessment and fraud detection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4.3 Industrial Applications</a:t>
            </a:r>
          </a:p>
          <a:p>
            <a:r>
              <a:rPr lang="en-US" dirty="0"/>
              <a:t>Fault diagnosis in machinery</a:t>
            </a:r>
          </a:p>
          <a:p>
            <a:r>
              <a:rPr lang="en-US" dirty="0"/>
              <a:t>Process control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17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0D39-9AC5-3DF9-8186-651D3378E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B1F10-28B6-1EBE-C77F-DFCE87F42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4.4 Education</a:t>
            </a:r>
          </a:p>
          <a:p>
            <a:r>
              <a:rPr lang="en-US" dirty="0"/>
              <a:t>Intelligent tutoring systems</a:t>
            </a:r>
          </a:p>
          <a:p>
            <a:r>
              <a:rPr lang="en-US" dirty="0"/>
              <a:t>Student performance evaluation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4.5 Agriculture</a:t>
            </a:r>
          </a:p>
          <a:p>
            <a:r>
              <a:rPr lang="en-US" dirty="0"/>
              <a:t>Crop disease detection</a:t>
            </a:r>
          </a:p>
          <a:p>
            <a:r>
              <a:rPr lang="en-US" dirty="0"/>
              <a:t>Fertilizer recommendation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991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0E37-B157-B602-211B-99CFCE1C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7209A-1897-0591-245D-C3AC35F25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5. Advantages of Knowledge-Based Systems</a:t>
            </a:r>
          </a:p>
          <a:p>
            <a:r>
              <a:rPr lang="en-US" dirty="0"/>
              <a:t>✔ Consistent decision making</a:t>
            </a:r>
            <a:br>
              <a:rPr lang="en-US" dirty="0"/>
            </a:br>
            <a:r>
              <a:rPr lang="en-US" dirty="0"/>
              <a:t>✔ Knowledge preservation</a:t>
            </a:r>
            <a:br>
              <a:rPr lang="en-US" dirty="0"/>
            </a:br>
            <a:r>
              <a:rPr lang="en-US" dirty="0"/>
              <a:t>✔ 24/7 availability</a:t>
            </a:r>
            <a:br>
              <a:rPr lang="en-US" dirty="0"/>
            </a:br>
            <a:r>
              <a:rPr lang="en-US" dirty="0"/>
              <a:t>✔ Reduced dependency on human experts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6. Limitations of Knowledge-Based Systems</a:t>
            </a:r>
          </a:p>
          <a:p>
            <a:r>
              <a:rPr lang="en-US" dirty="0"/>
              <a:t>✖ Knowledge acquisition is difficult</a:t>
            </a:r>
            <a:br>
              <a:rPr lang="en-US" dirty="0"/>
            </a:br>
            <a:r>
              <a:rPr lang="en-US" dirty="0"/>
              <a:t>✖ Limited to specific domains</a:t>
            </a:r>
            <a:br>
              <a:rPr lang="en-US" dirty="0"/>
            </a:br>
            <a:r>
              <a:rPr lang="en-US" dirty="0"/>
              <a:t>✖ High development cost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28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6D69-9FBA-090F-D721-AEF49ADF4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A9A80-2A04-3B64-2D22-E4DB230BC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Summary</a:t>
            </a:r>
          </a:p>
          <a:p>
            <a:r>
              <a:rPr lang="en-US" dirty="0"/>
              <a:t>Artificial Intelligence enables machines to exhibit intelligent behavior. Knowledge-Based Systems represent AI systems that use </a:t>
            </a:r>
            <a:r>
              <a:rPr lang="en-US" b="1" dirty="0"/>
              <a:t>explicit knowledge and reasoning</a:t>
            </a:r>
            <a:r>
              <a:rPr lang="en-US" dirty="0"/>
              <a:t> to solve real-world problems. With applications across medicine, industry, business, and education, KBS remain a </a:t>
            </a:r>
            <a:r>
              <a:rPr lang="en-US" b="1" dirty="0"/>
              <a:t>foundation of intelligent decision-support systems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882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316FD-24E8-CBEB-670E-3983D74C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C748D-965D-D13E-85CE-5F12BE8DB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📝 Exam-Oriented Questions</a:t>
            </a:r>
          </a:p>
          <a:p>
            <a:r>
              <a:rPr lang="en-US" dirty="0"/>
              <a:t>Define Artificial Intelligence.</a:t>
            </a:r>
          </a:p>
          <a:p>
            <a:r>
              <a:rPr lang="en-US" dirty="0"/>
              <a:t>What is a Knowledge-Based System?</a:t>
            </a:r>
          </a:p>
          <a:p>
            <a:r>
              <a:rPr lang="en-US" dirty="0"/>
              <a:t>List components of KBS.</a:t>
            </a:r>
          </a:p>
          <a:p>
            <a:r>
              <a:rPr lang="en-US" dirty="0"/>
              <a:t>Discuss real-world applications of KBS.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342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32AFC-832D-27A2-C80C-525CE35E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43362-8A15-CD71-95FE-B51405C93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🧪 Suggested Activity</a:t>
            </a:r>
          </a:p>
          <a:p>
            <a:r>
              <a:rPr lang="en-US"/>
              <a:t>Identify a real-world problem and propose a </a:t>
            </a:r>
            <a:r>
              <a:rPr lang="en-US" b="1"/>
              <a:t>Knowledge-Based System solution</a:t>
            </a:r>
            <a:r>
              <a:rPr lang="en-US"/>
              <a:t>, mentioning its knowledge base and inference mechanism.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37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480</Words>
  <Application>Microsoft Office PowerPoint</Application>
  <PresentationFormat>Widescreen</PresentationFormat>
  <Paragraphs>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📘 Knowledge-Based Systems Lecture 1: Introduction to AI &amp; Knowledge-Based Systems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Difference Between Conventional Systems &amp; KBS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18</cp:revision>
  <dcterms:created xsi:type="dcterms:W3CDTF">2026-01-21T08:57:58Z</dcterms:created>
  <dcterms:modified xsi:type="dcterms:W3CDTF">2026-01-21T09:00:40Z</dcterms:modified>
</cp:coreProperties>
</file>