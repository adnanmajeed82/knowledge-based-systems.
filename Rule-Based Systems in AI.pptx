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5945B-191C-A6DB-6C19-952FE90778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BC77FA4-D79C-95B6-1816-42F3CFF9D4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D6DD8A-9681-6332-2301-679136904507}"/>
              </a:ext>
            </a:extLst>
          </p:cNvPr>
          <p:cNvSpPr>
            <a:spLocks noGrp="1"/>
          </p:cNvSpPr>
          <p:nvPr>
            <p:ph type="dt" sz="half" idx="10"/>
          </p:nvPr>
        </p:nvSpPr>
        <p:spPr/>
        <p:txBody>
          <a:bodyPr/>
          <a:lstStyle/>
          <a:p>
            <a:fld id="{98373B4D-59C0-4F57-81BE-DA4A17E6F92A}" type="datetimeFigureOut">
              <a:rPr lang="en-US" smtClean="0"/>
              <a:t>2/25/2026</a:t>
            </a:fld>
            <a:endParaRPr lang="en-US"/>
          </a:p>
        </p:txBody>
      </p:sp>
      <p:sp>
        <p:nvSpPr>
          <p:cNvPr id="5" name="Footer Placeholder 4">
            <a:extLst>
              <a:ext uri="{FF2B5EF4-FFF2-40B4-BE49-F238E27FC236}">
                <a16:creationId xmlns:a16="http://schemas.microsoft.com/office/drawing/2014/main" id="{4B16F320-6347-707B-58E7-8A181C894B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FC284-1064-0ACE-2239-FB5D077496AD}"/>
              </a:ext>
            </a:extLst>
          </p:cNvPr>
          <p:cNvSpPr>
            <a:spLocks noGrp="1"/>
          </p:cNvSpPr>
          <p:nvPr>
            <p:ph type="sldNum" sz="quarter" idx="12"/>
          </p:nvPr>
        </p:nvSpPr>
        <p:spPr/>
        <p:txBody>
          <a:bodyPr/>
          <a:lstStyle/>
          <a:p>
            <a:fld id="{96980F8E-BCDD-4418-A6AB-DC28558F53F1}" type="slidenum">
              <a:rPr lang="en-US" smtClean="0"/>
              <a:t>‹#›</a:t>
            </a:fld>
            <a:endParaRPr lang="en-US"/>
          </a:p>
        </p:txBody>
      </p:sp>
    </p:spTree>
    <p:extLst>
      <p:ext uri="{BB962C8B-B14F-4D97-AF65-F5344CB8AC3E}">
        <p14:creationId xmlns:p14="http://schemas.microsoft.com/office/powerpoint/2010/main" val="1272699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351CA-0B46-2BF5-69A2-CE476D7D3B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737D62-2275-DBED-25BC-7F214F4DE1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7B3AA8-7BEA-4A14-E7EA-485AF4A20589}"/>
              </a:ext>
            </a:extLst>
          </p:cNvPr>
          <p:cNvSpPr>
            <a:spLocks noGrp="1"/>
          </p:cNvSpPr>
          <p:nvPr>
            <p:ph type="dt" sz="half" idx="10"/>
          </p:nvPr>
        </p:nvSpPr>
        <p:spPr/>
        <p:txBody>
          <a:bodyPr/>
          <a:lstStyle/>
          <a:p>
            <a:fld id="{98373B4D-59C0-4F57-81BE-DA4A17E6F92A}" type="datetimeFigureOut">
              <a:rPr lang="en-US" smtClean="0"/>
              <a:t>2/25/2026</a:t>
            </a:fld>
            <a:endParaRPr lang="en-US"/>
          </a:p>
        </p:txBody>
      </p:sp>
      <p:sp>
        <p:nvSpPr>
          <p:cNvPr id="5" name="Footer Placeholder 4">
            <a:extLst>
              <a:ext uri="{FF2B5EF4-FFF2-40B4-BE49-F238E27FC236}">
                <a16:creationId xmlns:a16="http://schemas.microsoft.com/office/drawing/2014/main" id="{4C7A5F81-8718-0341-CD0D-BD879B628C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3728F1-C554-F84F-D8C7-36FEA41A20E6}"/>
              </a:ext>
            </a:extLst>
          </p:cNvPr>
          <p:cNvSpPr>
            <a:spLocks noGrp="1"/>
          </p:cNvSpPr>
          <p:nvPr>
            <p:ph type="sldNum" sz="quarter" idx="12"/>
          </p:nvPr>
        </p:nvSpPr>
        <p:spPr/>
        <p:txBody>
          <a:bodyPr/>
          <a:lstStyle/>
          <a:p>
            <a:fld id="{96980F8E-BCDD-4418-A6AB-DC28558F53F1}" type="slidenum">
              <a:rPr lang="en-US" smtClean="0"/>
              <a:t>‹#›</a:t>
            </a:fld>
            <a:endParaRPr lang="en-US"/>
          </a:p>
        </p:txBody>
      </p:sp>
    </p:spTree>
    <p:extLst>
      <p:ext uri="{BB962C8B-B14F-4D97-AF65-F5344CB8AC3E}">
        <p14:creationId xmlns:p14="http://schemas.microsoft.com/office/powerpoint/2010/main" val="3342056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42FC1-1605-84D5-A32B-0B1BA37CF5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862271-3E4F-2F9A-9C94-4CE5BB14D3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6237A1-C564-5DFD-C95B-86D7D279EDEA}"/>
              </a:ext>
            </a:extLst>
          </p:cNvPr>
          <p:cNvSpPr>
            <a:spLocks noGrp="1"/>
          </p:cNvSpPr>
          <p:nvPr>
            <p:ph type="dt" sz="half" idx="10"/>
          </p:nvPr>
        </p:nvSpPr>
        <p:spPr/>
        <p:txBody>
          <a:bodyPr/>
          <a:lstStyle/>
          <a:p>
            <a:fld id="{98373B4D-59C0-4F57-81BE-DA4A17E6F92A}" type="datetimeFigureOut">
              <a:rPr lang="en-US" smtClean="0"/>
              <a:t>2/25/2026</a:t>
            </a:fld>
            <a:endParaRPr lang="en-US"/>
          </a:p>
        </p:txBody>
      </p:sp>
      <p:sp>
        <p:nvSpPr>
          <p:cNvPr id="5" name="Footer Placeholder 4">
            <a:extLst>
              <a:ext uri="{FF2B5EF4-FFF2-40B4-BE49-F238E27FC236}">
                <a16:creationId xmlns:a16="http://schemas.microsoft.com/office/drawing/2014/main" id="{436140BF-3AA0-B034-DC92-EB939CB147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F22049-4932-335E-8F91-67555E9092A7}"/>
              </a:ext>
            </a:extLst>
          </p:cNvPr>
          <p:cNvSpPr>
            <a:spLocks noGrp="1"/>
          </p:cNvSpPr>
          <p:nvPr>
            <p:ph type="sldNum" sz="quarter" idx="12"/>
          </p:nvPr>
        </p:nvSpPr>
        <p:spPr/>
        <p:txBody>
          <a:bodyPr/>
          <a:lstStyle/>
          <a:p>
            <a:fld id="{96980F8E-BCDD-4418-A6AB-DC28558F53F1}" type="slidenum">
              <a:rPr lang="en-US" smtClean="0"/>
              <a:t>‹#›</a:t>
            </a:fld>
            <a:endParaRPr lang="en-US"/>
          </a:p>
        </p:txBody>
      </p:sp>
    </p:spTree>
    <p:extLst>
      <p:ext uri="{BB962C8B-B14F-4D97-AF65-F5344CB8AC3E}">
        <p14:creationId xmlns:p14="http://schemas.microsoft.com/office/powerpoint/2010/main" val="2545671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0C035-97C8-4D50-A2DF-2CF1D22648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50A2B4-DAC0-E8A0-F0A2-E8D8F22985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AD3283-C7BF-4ADE-E94B-2DCA050189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B50F33-AA5C-5371-B843-0ACD92B13442}"/>
              </a:ext>
            </a:extLst>
          </p:cNvPr>
          <p:cNvSpPr>
            <a:spLocks noGrp="1"/>
          </p:cNvSpPr>
          <p:nvPr>
            <p:ph type="dt" sz="half" idx="10"/>
          </p:nvPr>
        </p:nvSpPr>
        <p:spPr/>
        <p:txBody>
          <a:bodyPr/>
          <a:lstStyle/>
          <a:p>
            <a:fld id="{98373B4D-59C0-4F57-81BE-DA4A17E6F92A}" type="datetimeFigureOut">
              <a:rPr lang="en-US" smtClean="0"/>
              <a:t>2/25/2026</a:t>
            </a:fld>
            <a:endParaRPr lang="en-US"/>
          </a:p>
        </p:txBody>
      </p:sp>
      <p:sp>
        <p:nvSpPr>
          <p:cNvPr id="6" name="Footer Placeholder 5">
            <a:extLst>
              <a:ext uri="{FF2B5EF4-FFF2-40B4-BE49-F238E27FC236}">
                <a16:creationId xmlns:a16="http://schemas.microsoft.com/office/drawing/2014/main" id="{467AD4B4-9EDB-7A2B-6387-F69DFF6611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D32278-D037-9760-DAF4-D975D4D05A36}"/>
              </a:ext>
            </a:extLst>
          </p:cNvPr>
          <p:cNvSpPr>
            <a:spLocks noGrp="1"/>
          </p:cNvSpPr>
          <p:nvPr>
            <p:ph type="sldNum" sz="quarter" idx="12"/>
          </p:nvPr>
        </p:nvSpPr>
        <p:spPr/>
        <p:txBody>
          <a:bodyPr/>
          <a:lstStyle/>
          <a:p>
            <a:fld id="{96980F8E-BCDD-4418-A6AB-DC28558F53F1}" type="slidenum">
              <a:rPr lang="en-US" smtClean="0"/>
              <a:t>‹#›</a:t>
            </a:fld>
            <a:endParaRPr lang="en-US"/>
          </a:p>
        </p:txBody>
      </p:sp>
    </p:spTree>
    <p:extLst>
      <p:ext uri="{BB962C8B-B14F-4D97-AF65-F5344CB8AC3E}">
        <p14:creationId xmlns:p14="http://schemas.microsoft.com/office/powerpoint/2010/main" val="2723537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33DC7-68D4-08F4-6730-2A85B5D674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5A73AE-BE93-D619-799B-6E634AFD99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071D87-F926-115F-0B5E-FEBAF65C37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959E7C-2820-42D8-FE4D-66F83285EA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32763F-9763-909D-BE79-5F14A3C713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2C81DD-8346-D751-1C76-3551A77CB9BD}"/>
              </a:ext>
            </a:extLst>
          </p:cNvPr>
          <p:cNvSpPr>
            <a:spLocks noGrp="1"/>
          </p:cNvSpPr>
          <p:nvPr>
            <p:ph type="dt" sz="half" idx="10"/>
          </p:nvPr>
        </p:nvSpPr>
        <p:spPr/>
        <p:txBody>
          <a:bodyPr/>
          <a:lstStyle/>
          <a:p>
            <a:fld id="{98373B4D-59C0-4F57-81BE-DA4A17E6F92A}" type="datetimeFigureOut">
              <a:rPr lang="en-US" smtClean="0"/>
              <a:t>2/25/2026</a:t>
            </a:fld>
            <a:endParaRPr lang="en-US"/>
          </a:p>
        </p:txBody>
      </p:sp>
      <p:sp>
        <p:nvSpPr>
          <p:cNvPr id="8" name="Footer Placeholder 7">
            <a:extLst>
              <a:ext uri="{FF2B5EF4-FFF2-40B4-BE49-F238E27FC236}">
                <a16:creationId xmlns:a16="http://schemas.microsoft.com/office/drawing/2014/main" id="{F262864E-B92B-4CDE-6E40-154193E08A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E3BC3B-0DD6-6427-634D-B955342EE86E}"/>
              </a:ext>
            </a:extLst>
          </p:cNvPr>
          <p:cNvSpPr>
            <a:spLocks noGrp="1"/>
          </p:cNvSpPr>
          <p:nvPr>
            <p:ph type="sldNum" sz="quarter" idx="12"/>
          </p:nvPr>
        </p:nvSpPr>
        <p:spPr/>
        <p:txBody>
          <a:bodyPr/>
          <a:lstStyle/>
          <a:p>
            <a:fld id="{96980F8E-BCDD-4418-A6AB-DC28558F53F1}" type="slidenum">
              <a:rPr lang="en-US" smtClean="0"/>
              <a:t>‹#›</a:t>
            </a:fld>
            <a:endParaRPr lang="en-US"/>
          </a:p>
        </p:txBody>
      </p:sp>
    </p:spTree>
    <p:extLst>
      <p:ext uri="{BB962C8B-B14F-4D97-AF65-F5344CB8AC3E}">
        <p14:creationId xmlns:p14="http://schemas.microsoft.com/office/powerpoint/2010/main" val="2349298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78AD7-10B0-F136-967C-354057D1B3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EB56CB-9197-74FF-8B17-E87EFDCF6770}"/>
              </a:ext>
            </a:extLst>
          </p:cNvPr>
          <p:cNvSpPr>
            <a:spLocks noGrp="1"/>
          </p:cNvSpPr>
          <p:nvPr>
            <p:ph type="dt" sz="half" idx="10"/>
          </p:nvPr>
        </p:nvSpPr>
        <p:spPr/>
        <p:txBody>
          <a:bodyPr/>
          <a:lstStyle/>
          <a:p>
            <a:fld id="{98373B4D-59C0-4F57-81BE-DA4A17E6F92A}" type="datetimeFigureOut">
              <a:rPr lang="en-US" smtClean="0"/>
              <a:t>2/25/2026</a:t>
            </a:fld>
            <a:endParaRPr lang="en-US"/>
          </a:p>
        </p:txBody>
      </p:sp>
      <p:sp>
        <p:nvSpPr>
          <p:cNvPr id="4" name="Footer Placeholder 3">
            <a:extLst>
              <a:ext uri="{FF2B5EF4-FFF2-40B4-BE49-F238E27FC236}">
                <a16:creationId xmlns:a16="http://schemas.microsoft.com/office/drawing/2014/main" id="{7A953FCA-24A5-C5CD-AEAC-DF3CA054A0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82E3B6-F0E4-6EE8-7A63-ED59236A2500}"/>
              </a:ext>
            </a:extLst>
          </p:cNvPr>
          <p:cNvSpPr>
            <a:spLocks noGrp="1"/>
          </p:cNvSpPr>
          <p:nvPr>
            <p:ph type="sldNum" sz="quarter" idx="12"/>
          </p:nvPr>
        </p:nvSpPr>
        <p:spPr/>
        <p:txBody>
          <a:bodyPr/>
          <a:lstStyle/>
          <a:p>
            <a:fld id="{96980F8E-BCDD-4418-A6AB-DC28558F53F1}" type="slidenum">
              <a:rPr lang="en-US" smtClean="0"/>
              <a:t>‹#›</a:t>
            </a:fld>
            <a:endParaRPr lang="en-US"/>
          </a:p>
        </p:txBody>
      </p:sp>
    </p:spTree>
    <p:extLst>
      <p:ext uri="{BB962C8B-B14F-4D97-AF65-F5344CB8AC3E}">
        <p14:creationId xmlns:p14="http://schemas.microsoft.com/office/powerpoint/2010/main" val="1389485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4C164C-7B4F-1A1D-DFC3-D4F09B2A5DB5}"/>
              </a:ext>
            </a:extLst>
          </p:cNvPr>
          <p:cNvSpPr>
            <a:spLocks noGrp="1"/>
          </p:cNvSpPr>
          <p:nvPr>
            <p:ph type="dt" sz="half" idx="10"/>
          </p:nvPr>
        </p:nvSpPr>
        <p:spPr/>
        <p:txBody>
          <a:bodyPr/>
          <a:lstStyle/>
          <a:p>
            <a:fld id="{98373B4D-59C0-4F57-81BE-DA4A17E6F92A}" type="datetimeFigureOut">
              <a:rPr lang="en-US" smtClean="0"/>
              <a:t>2/25/2026</a:t>
            </a:fld>
            <a:endParaRPr lang="en-US"/>
          </a:p>
        </p:txBody>
      </p:sp>
      <p:sp>
        <p:nvSpPr>
          <p:cNvPr id="3" name="Footer Placeholder 2">
            <a:extLst>
              <a:ext uri="{FF2B5EF4-FFF2-40B4-BE49-F238E27FC236}">
                <a16:creationId xmlns:a16="http://schemas.microsoft.com/office/drawing/2014/main" id="{B07B479E-D2EB-A695-D05D-4A86DB9209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74CCBFA-A4FD-B4E3-147C-449326755526}"/>
              </a:ext>
            </a:extLst>
          </p:cNvPr>
          <p:cNvSpPr>
            <a:spLocks noGrp="1"/>
          </p:cNvSpPr>
          <p:nvPr>
            <p:ph type="sldNum" sz="quarter" idx="12"/>
          </p:nvPr>
        </p:nvSpPr>
        <p:spPr/>
        <p:txBody>
          <a:bodyPr/>
          <a:lstStyle/>
          <a:p>
            <a:fld id="{96980F8E-BCDD-4418-A6AB-DC28558F53F1}" type="slidenum">
              <a:rPr lang="en-US" smtClean="0"/>
              <a:t>‹#›</a:t>
            </a:fld>
            <a:endParaRPr lang="en-US"/>
          </a:p>
        </p:txBody>
      </p:sp>
    </p:spTree>
    <p:extLst>
      <p:ext uri="{BB962C8B-B14F-4D97-AF65-F5344CB8AC3E}">
        <p14:creationId xmlns:p14="http://schemas.microsoft.com/office/powerpoint/2010/main" val="2464311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33AB1-93FD-4580-5848-E86BD68D51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63950D-DCBC-2340-898A-44088FD0C1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7052AC2-AB38-A9F8-BFBF-30E353CE15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5830C8-F604-ADB3-E834-CBE2224E8A25}"/>
              </a:ext>
            </a:extLst>
          </p:cNvPr>
          <p:cNvSpPr>
            <a:spLocks noGrp="1"/>
          </p:cNvSpPr>
          <p:nvPr>
            <p:ph type="dt" sz="half" idx="10"/>
          </p:nvPr>
        </p:nvSpPr>
        <p:spPr/>
        <p:txBody>
          <a:bodyPr/>
          <a:lstStyle/>
          <a:p>
            <a:fld id="{98373B4D-59C0-4F57-81BE-DA4A17E6F92A}" type="datetimeFigureOut">
              <a:rPr lang="en-US" smtClean="0"/>
              <a:t>2/25/2026</a:t>
            </a:fld>
            <a:endParaRPr lang="en-US"/>
          </a:p>
        </p:txBody>
      </p:sp>
      <p:sp>
        <p:nvSpPr>
          <p:cNvPr id="6" name="Footer Placeholder 5">
            <a:extLst>
              <a:ext uri="{FF2B5EF4-FFF2-40B4-BE49-F238E27FC236}">
                <a16:creationId xmlns:a16="http://schemas.microsoft.com/office/drawing/2014/main" id="{FA1A98C2-66E9-BE83-740D-04EB8CB19D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76B3C0-3B65-168D-3B22-159B3E9F5AE3}"/>
              </a:ext>
            </a:extLst>
          </p:cNvPr>
          <p:cNvSpPr>
            <a:spLocks noGrp="1"/>
          </p:cNvSpPr>
          <p:nvPr>
            <p:ph type="sldNum" sz="quarter" idx="12"/>
          </p:nvPr>
        </p:nvSpPr>
        <p:spPr/>
        <p:txBody>
          <a:bodyPr/>
          <a:lstStyle/>
          <a:p>
            <a:fld id="{96980F8E-BCDD-4418-A6AB-DC28558F53F1}" type="slidenum">
              <a:rPr lang="en-US" smtClean="0"/>
              <a:t>‹#›</a:t>
            </a:fld>
            <a:endParaRPr lang="en-US"/>
          </a:p>
        </p:txBody>
      </p:sp>
    </p:spTree>
    <p:extLst>
      <p:ext uri="{BB962C8B-B14F-4D97-AF65-F5344CB8AC3E}">
        <p14:creationId xmlns:p14="http://schemas.microsoft.com/office/powerpoint/2010/main" val="1161664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8B0B2-1FEA-62B4-4218-C7835A9BD9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250875-DE1C-527F-BCDF-FB59F8CD94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FF6E54-0A0A-C184-0C0D-66650FE94F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720AE5-C8C3-5D54-DE82-7D37FF2F749E}"/>
              </a:ext>
            </a:extLst>
          </p:cNvPr>
          <p:cNvSpPr>
            <a:spLocks noGrp="1"/>
          </p:cNvSpPr>
          <p:nvPr>
            <p:ph type="dt" sz="half" idx="10"/>
          </p:nvPr>
        </p:nvSpPr>
        <p:spPr/>
        <p:txBody>
          <a:bodyPr/>
          <a:lstStyle/>
          <a:p>
            <a:fld id="{98373B4D-59C0-4F57-81BE-DA4A17E6F92A}" type="datetimeFigureOut">
              <a:rPr lang="en-US" smtClean="0"/>
              <a:t>2/25/2026</a:t>
            </a:fld>
            <a:endParaRPr lang="en-US"/>
          </a:p>
        </p:txBody>
      </p:sp>
      <p:sp>
        <p:nvSpPr>
          <p:cNvPr id="6" name="Footer Placeholder 5">
            <a:extLst>
              <a:ext uri="{FF2B5EF4-FFF2-40B4-BE49-F238E27FC236}">
                <a16:creationId xmlns:a16="http://schemas.microsoft.com/office/drawing/2014/main" id="{A38A298A-F177-78B5-F2CE-59BF016ED6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246BA-0438-14E7-4A76-BD68D2B44A69}"/>
              </a:ext>
            </a:extLst>
          </p:cNvPr>
          <p:cNvSpPr>
            <a:spLocks noGrp="1"/>
          </p:cNvSpPr>
          <p:nvPr>
            <p:ph type="sldNum" sz="quarter" idx="12"/>
          </p:nvPr>
        </p:nvSpPr>
        <p:spPr/>
        <p:txBody>
          <a:bodyPr/>
          <a:lstStyle/>
          <a:p>
            <a:fld id="{96980F8E-BCDD-4418-A6AB-DC28558F53F1}" type="slidenum">
              <a:rPr lang="en-US" smtClean="0"/>
              <a:t>‹#›</a:t>
            </a:fld>
            <a:endParaRPr lang="en-US"/>
          </a:p>
        </p:txBody>
      </p:sp>
    </p:spTree>
    <p:extLst>
      <p:ext uri="{BB962C8B-B14F-4D97-AF65-F5344CB8AC3E}">
        <p14:creationId xmlns:p14="http://schemas.microsoft.com/office/powerpoint/2010/main" val="1931161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C1503-59AD-A5E7-157E-CEF4B32C241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36F0684-3EFF-A615-5CB2-895BA6A404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C3A8A5-1B77-FBDC-CC45-1452023008DB}"/>
              </a:ext>
            </a:extLst>
          </p:cNvPr>
          <p:cNvSpPr>
            <a:spLocks noGrp="1"/>
          </p:cNvSpPr>
          <p:nvPr>
            <p:ph type="dt" sz="half" idx="10"/>
          </p:nvPr>
        </p:nvSpPr>
        <p:spPr/>
        <p:txBody>
          <a:bodyPr/>
          <a:lstStyle/>
          <a:p>
            <a:fld id="{98373B4D-59C0-4F57-81BE-DA4A17E6F92A}" type="datetimeFigureOut">
              <a:rPr lang="en-US" smtClean="0"/>
              <a:t>2/25/2026</a:t>
            </a:fld>
            <a:endParaRPr lang="en-US"/>
          </a:p>
        </p:txBody>
      </p:sp>
      <p:sp>
        <p:nvSpPr>
          <p:cNvPr id="5" name="Footer Placeholder 4">
            <a:extLst>
              <a:ext uri="{FF2B5EF4-FFF2-40B4-BE49-F238E27FC236}">
                <a16:creationId xmlns:a16="http://schemas.microsoft.com/office/drawing/2014/main" id="{C54E8871-26EA-A46C-6BA6-ED80F2DB07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BBB365-70E6-5CAA-4841-2351B4FF3127}"/>
              </a:ext>
            </a:extLst>
          </p:cNvPr>
          <p:cNvSpPr>
            <a:spLocks noGrp="1"/>
          </p:cNvSpPr>
          <p:nvPr>
            <p:ph type="sldNum" sz="quarter" idx="12"/>
          </p:nvPr>
        </p:nvSpPr>
        <p:spPr/>
        <p:txBody>
          <a:bodyPr/>
          <a:lstStyle/>
          <a:p>
            <a:fld id="{96980F8E-BCDD-4418-A6AB-DC28558F53F1}" type="slidenum">
              <a:rPr lang="en-US" smtClean="0"/>
              <a:t>‹#›</a:t>
            </a:fld>
            <a:endParaRPr lang="en-US"/>
          </a:p>
        </p:txBody>
      </p:sp>
    </p:spTree>
    <p:extLst>
      <p:ext uri="{BB962C8B-B14F-4D97-AF65-F5344CB8AC3E}">
        <p14:creationId xmlns:p14="http://schemas.microsoft.com/office/powerpoint/2010/main" val="1727506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E0EBF-4366-5461-8173-4F13B21467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D37446-C754-53DA-7B5F-0CA2E122B1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C89DB4-F9CF-E7FB-E21B-B84F126E83A1}"/>
              </a:ext>
            </a:extLst>
          </p:cNvPr>
          <p:cNvSpPr>
            <a:spLocks noGrp="1"/>
          </p:cNvSpPr>
          <p:nvPr>
            <p:ph type="dt" sz="half" idx="10"/>
          </p:nvPr>
        </p:nvSpPr>
        <p:spPr/>
        <p:txBody>
          <a:bodyPr/>
          <a:lstStyle/>
          <a:p>
            <a:fld id="{98373B4D-59C0-4F57-81BE-DA4A17E6F92A}" type="datetimeFigureOut">
              <a:rPr lang="en-US" smtClean="0"/>
              <a:t>2/25/2026</a:t>
            </a:fld>
            <a:endParaRPr lang="en-US"/>
          </a:p>
        </p:txBody>
      </p:sp>
      <p:sp>
        <p:nvSpPr>
          <p:cNvPr id="5" name="Footer Placeholder 4">
            <a:extLst>
              <a:ext uri="{FF2B5EF4-FFF2-40B4-BE49-F238E27FC236}">
                <a16:creationId xmlns:a16="http://schemas.microsoft.com/office/drawing/2014/main" id="{C83ACF46-C045-2B7B-2764-A78B7F2FE2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CD0736-557C-6C5B-AF13-ED7F673958D6}"/>
              </a:ext>
            </a:extLst>
          </p:cNvPr>
          <p:cNvSpPr>
            <a:spLocks noGrp="1"/>
          </p:cNvSpPr>
          <p:nvPr>
            <p:ph type="sldNum" sz="quarter" idx="12"/>
          </p:nvPr>
        </p:nvSpPr>
        <p:spPr/>
        <p:txBody>
          <a:bodyPr/>
          <a:lstStyle/>
          <a:p>
            <a:fld id="{96980F8E-BCDD-4418-A6AB-DC28558F53F1}" type="slidenum">
              <a:rPr lang="en-US" smtClean="0"/>
              <a:t>‹#›</a:t>
            </a:fld>
            <a:endParaRPr lang="en-US"/>
          </a:p>
        </p:txBody>
      </p:sp>
    </p:spTree>
    <p:extLst>
      <p:ext uri="{BB962C8B-B14F-4D97-AF65-F5344CB8AC3E}">
        <p14:creationId xmlns:p14="http://schemas.microsoft.com/office/powerpoint/2010/main" val="4193979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066CA1-C695-30FE-7094-6E5860625E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7923F0-E58F-8B30-71C2-AC86DBFF8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94B502-ABFA-D2B5-F730-F800B9D595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373B4D-59C0-4F57-81BE-DA4A17E6F92A}" type="datetimeFigureOut">
              <a:rPr lang="en-US" smtClean="0"/>
              <a:t>2/25/2026</a:t>
            </a:fld>
            <a:endParaRPr lang="en-US"/>
          </a:p>
        </p:txBody>
      </p:sp>
      <p:sp>
        <p:nvSpPr>
          <p:cNvPr id="5" name="Footer Placeholder 4">
            <a:extLst>
              <a:ext uri="{FF2B5EF4-FFF2-40B4-BE49-F238E27FC236}">
                <a16:creationId xmlns:a16="http://schemas.microsoft.com/office/drawing/2014/main" id="{D80B45A9-8A28-625A-CA3E-54363A18C9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1A1836E-6C69-94F8-0424-5250502157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980F8E-BCDD-4418-A6AB-DC28558F53F1}" type="slidenum">
              <a:rPr lang="en-US" smtClean="0"/>
              <a:t>‹#›</a:t>
            </a:fld>
            <a:endParaRPr lang="en-US"/>
          </a:p>
        </p:txBody>
      </p:sp>
    </p:spTree>
    <p:extLst>
      <p:ext uri="{BB962C8B-B14F-4D97-AF65-F5344CB8AC3E}">
        <p14:creationId xmlns:p14="http://schemas.microsoft.com/office/powerpoint/2010/main" val="1526994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eeksforgeeks.org/artificial-intelligence/what-is-artificial-intelligence-ai/"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artificial-intelligence/expert-system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611C4-D37A-96D2-CF24-02DFF08E7059}"/>
              </a:ext>
            </a:extLst>
          </p:cNvPr>
          <p:cNvSpPr>
            <a:spLocks noGrp="1"/>
          </p:cNvSpPr>
          <p:nvPr>
            <p:ph type="ctrTitle"/>
          </p:nvPr>
        </p:nvSpPr>
        <p:spPr/>
        <p:txBody>
          <a:bodyPr/>
          <a:lstStyle/>
          <a:p>
            <a:r>
              <a:rPr lang="en-US" b="1" dirty="0"/>
              <a:t>Rule-Based Systems in AI</a:t>
            </a:r>
            <a:br>
              <a:rPr lang="en-US" b="1" dirty="0"/>
            </a:br>
            <a:r>
              <a:rPr lang="en-US" b="1" dirty="0"/>
              <a:t>IF-Then Rules </a:t>
            </a:r>
            <a:endParaRPr lang="en-US" dirty="0"/>
          </a:p>
        </p:txBody>
      </p:sp>
      <p:sp>
        <p:nvSpPr>
          <p:cNvPr id="3" name="Subtitle 2">
            <a:extLst>
              <a:ext uri="{FF2B5EF4-FFF2-40B4-BE49-F238E27FC236}">
                <a16:creationId xmlns:a16="http://schemas.microsoft.com/office/drawing/2014/main" id="{1A2D7DEB-4A52-06EB-9980-9D8E2959B729}"/>
              </a:ext>
            </a:extLst>
          </p:cNvPr>
          <p:cNvSpPr>
            <a:spLocks noGrp="1"/>
          </p:cNvSpPr>
          <p:nvPr>
            <p:ph type="subTitle" idx="1"/>
          </p:nvPr>
        </p:nvSpPr>
        <p:spPr/>
        <p:txBody>
          <a:bodyPr/>
          <a:lstStyle/>
          <a:p>
            <a:r>
              <a:rPr lang="en-US" dirty="0"/>
              <a:t>By</a:t>
            </a:r>
          </a:p>
          <a:p>
            <a:r>
              <a:rPr lang="en-US" dirty="0"/>
              <a:t>Adnan Majeed </a:t>
            </a:r>
          </a:p>
          <a:p>
            <a:r>
              <a:rPr lang="en-US" dirty="0"/>
              <a:t>Data Scientist , Researcher </a:t>
            </a:r>
          </a:p>
        </p:txBody>
      </p:sp>
    </p:spTree>
    <p:extLst>
      <p:ext uri="{BB962C8B-B14F-4D97-AF65-F5344CB8AC3E}">
        <p14:creationId xmlns:p14="http://schemas.microsoft.com/office/powerpoint/2010/main" val="3144978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2DB09-7DA1-CC3B-B296-5C5991B4C01D}"/>
              </a:ext>
            </a:extLst>
          </p:cNvPr>
          <p:cNvSpPr>
            <a:spLocks noGrp="1"/>
          </p:cNvSpPr>
          <p:nvPr>
            <p:ph type="title"/>
          </p:nvPr>
        </p:nvSpPr>
        <p:spPr/>
        <p:txBody>
          <a:bodyPr/>
          <a:lstStyle/>
          <a:p>
            <a:r>
              <a:rPr lang="en-US" b="1" dirty="0"/>
              <a:t>Rule-Based System in AI</a:t>
            </a:r>
            <a:br>
              <a:rPr lang="en-US" b="1" dirty="0"/>
            </a:br>
            <a:endParaRPr lang="en-US" dirty="0"/>
          </a:p>
        </p:txBody>
      </p:sp>
      <p:sp>
        <p:nvSpPr>
          <p:cNvPr id="3" name="Content Placeholder 2">
            <a:extLst>
              <a:ext uri="{FF2B5EF4-FFF2-40B4-BE49-F238E27FC236}">
                <a16:creationId xmlns:a16="http://schemas.microsoft.com/office/drawing/2014/main" id="{AE8A8A24-63E2-AB4B-B21B-1006C57DB401}"/>
              </a:ext>
            </a:extLst>
          </p:cNvPr>
          <p:cNvSpPr>
            <a:spLocks noGrp="1"/>
          </p:cNvSpPr>
          <p:nvPr>
            <p:ph idx="1"/>
          </p:nvPr>
        </p:nvSpPr>
        <p:spPr/>
        <p:txBody>
          <a:bodyPr/>
          <a:lstStyle/>
          <a:p>
            <a:pPr fontAlgn="base"/>
            <a:r>
              <a:rPr lang="en-US" dirty="0"/>
              <a:t>Rule-based systems, a foundational technology in artificial intelligence (AI), have long been instrumental in decision-making and problem-solving across various domains. These systems operate on a set of predefined rules and logic to make decisions, perform tasks, or derive conclusions.</a:t>
            </a:r>
          </a:p>
          <a:p>
            <a:endParaRPr lang="en-US" dirty="0"/>
          </a:p>
        </p:txBody>
      </p:sp>
    </p:spTree>
    <p:extLst>
      <p:ext uri="{BB962C8B-B14F-4D97-AF65-F5344CB8AC3E}">
        <p14:creationId xmlns:p14="http://schemas.microsoft.com/office/powerpoint/2010/main" val="2664323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F02F9-FE75-DE97-3469-4E509E0BF246}"/>
              </a:ext>
            </a:extLst>
          </p:cNvPr>
          <p:cNvSpPr>
            <a:spLocks noGrp="1"/>
          </p:cNvSpPr>
          <p:nvPr>
            <p:ph type="title"/>
          </p:nvPr>
        </p:nvSpPr>
        <p:spPr/>
        <p:txBody>
          <a:bodyPr/>
          <a:lstStyle/>
          <a:p>
            <a:r>
              <a:rPr lang="en-US" b="1" dirty="0"/>
              <a:t>History of Rule-Based Systems in AI</a:t>
            </a:r>
            <a:br>
              <a:rPr lang="en-US" b="1" dirty="0"/>
            </a:br>
            <a:endParaRPr lang="en-US" dirty="0"/>
          </a:p>
        </p:txBody>
      </p:sp>
      <p:sp>
        <p:nvSpPr>
          <p:cNvPr id="3" name="Content Placeholder 2">
            <a:extLst>
              <a:ext uri="{FF2B5EF4-FFF2-40B4-BE49-F238E27FC236}">
                <a16:creationId xmlns:a16="http://schemas.microsoft.com/office/drawing/2014/main" id="{A64FE328-07CA-E543-9A13-26F484A2044A}"/>
              </a:ext>
            </a:extLst>
          </p:cNvPr>
          <p:cNvSpPr>
            <a:spLocks noGrp="1"/>
          </p:cNvSpPr>
          <p:nvPr>
            <p:ph idx="1"/>
          </p:nvPr>
        </p:nvSpPr>
        <p:spPr/>
        <p:txBody>
          <a:bodyPr/>
          <a:lstStyle/>
          <a:p>
            <a:pPr fontAlgn="base"/>
            <a:r>
              <a:rPr lang="en-US" dirty="0"/>
              <a:t>The concept of rule-based systems in </a:t>
            </a:r>
            <a:r>
              <a:rPr lang="en-US" u="sng" dirty="0">
                <a:hlinkClick r:id="rId2"/>
              </a:rPr>
              <a:t>artificial intelligence</a:t>
            </a:r>
            <a:r>
              <a:rPr lang="en-US" dirty="0"/>
              <a:t> can be traced back to the 1970s, when researchers sought to replicate human decision-making processes. The earliest AI systems were built on logical rules, inspired by how experts in various fields, such as medicine and law, used their knowledge to make decisions. These systems, often referred to as expert systems, became the foundation of AI during its initial development.</a:t>
            </a:r>
          </a:p>
          <a:p>
            <a:endParaRPr lang="en-US" dirty="0"/>
          </a:p>
        </p:txBody>
      </p:sp>
    </p:spTree>
    <p:extLst>
      <p:ext uri="{BB962C8B-B14F-4D97-AF65-F5344CB8AC3E}">
        <p14:creationId xmlns:p14="http://schemas.microsoft.com/office/powerpoint/2010/main" val="1720841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D681E-F0F5-5A40-8A99-6DAA3369667A}"/>
              </a:ext>
            </a:extLst>
          </p:cNvPr>
          <p:cNvSpPr>
            <a:spLocks noGrp="1"/>
          </p:cNvSpPr>
          <p:nvPr>
            <p:ph type="title"/>
          </p:nvPr>
        </p:nvSpPr>
        <p:spPr/>
        <p:txBody>
          <a:bodyPr/>
          <a:lstStyle/>
          <a:p>
            <a:r>
              <a:rPr lang="en-US" b="1" dirty="0"/>
              <a:t>Components of a Rule-Based System</a:t>
            </a:r>
            <a:br>
              <a:rPr lang="en-US" b="1" dirty="0"/>
            </a:br>
            <a:endParaRPr lang="en-US" dirty="0"/>
          </a:p>
        </p:txBody>
      </p:sp>
      <p:sp>
        <p:nvSpPr>
          <p:cNvPr id="3" name="Content Placeholder 2">
            <a:extLst>
              <a:ext uri="{FF2B5EF4-FFF2-40B4-BE49-F238E27FC236}">
                <a16:creationId xmlns:a16="http://schemas.microsoft.com/office/drawing/2014/main" id="{0EFE4920-695A-235D-DC18-A25CDB8581F1}"/>
              </a:ext>
            </a:extLst>
          </p:cNvPr>
          <p:cNvSpPr>
            <a:spLocks noGrp="1"/>
          </p:cNvSpPr>
          <p:nvPr>
            <p:ph idx="1"/>
          </p:nvPr>
        </p:nvSpPr>
        <p:spPr/>
        <p:txBody>
          <a:bodyPr>
            <a:normAutofit fontScale="70000" lnSpcReduction="20000"/>
          </a:bodyPr>
          <a:lstStyle/>
          <a:p>
            <a:pPr fontAlgn="base"/>
            <a:r>
              <a:rPr lang="en-US" dirty="0"/>
              <a:t>A typical rule-based system comprises several key components:</a:t>
            </a:r>
          </a:p>
          <a:p>
            <a:pPr fontAlgn="base"/>
            <a:r>
              <a:rPr lang="en-US" b="1" dirty="0"/>
              <a:t>Rules:</a:t>
            </a:r>
            <a:r>
              <a:rPr lang="en-US" dirty="0"/>
              <a:t> The core of the system, these are conditional statements that define the system's behavior. A rule generally follows the format "IF condition THEN action." For example, in an expert system for medical diagnosis, a rule might be "IF patient has fever AND cough THEN consider flu."</a:t>
            </a:r>
          </a:p>
          <a:p>
            <a:pPr fontAlgn="base"/>
            <a:r>
              <a:rPr lang="en-US" b="1" dirty="0"/>
              <a:t>Knowledge Base:</a:t>
            </a:r>
            <a:r>
              <a:rPr lang="en-US" dirty="0"/>
              <a:t> This is the repository where all the rules and facts are stored. The knowledge base is built from domain-specific knowledge and can be manually curated or derived from expert input.</a:t>
            </a:r>
          </a:p>
          <a:p>
            <a:pPr fontAlgn="base"/>
            <a:r>
              <a:rPr lang="en-US" b="1" dirty="0"/>
              <a:t>Inference Engine:</a:t>
            </a:r>
            <a:r>
              <a:rPr lang="en-US" dirty="0"/>
              <a:t> The inference engine is the component that applies the rules to the knowledge base to derive conclusions or make decisions. It interprets the rules, processes them against the current facts or data, and determines the appropriate actions or outputs.</a:t>
            </a:r>
          </a:p>
          <a:p>
            <a:pPr fontAlgn="base"/>
            <a:r>
              <a:rPr lang="en-US" b="1" dirty="0"/>
              <a:t>Working Memory:</a:t>
            </a:r>
            <a:r>
              <a:rPr lang="en-US" dirty="0"/>
              <a:t> This is a dynamic component that holds the current facts or data being processed by the system. It is updated as the inference engine applies rules and new information becomes available.</a:t>
            </a:r>
          </a:p>
          <a:p>
            <a:pPr fontAlgn="base"/>
            <a:r>
              <a:rPr lang="en-US" b="1" dirty="0"/>
              <a:t>User Interface:</a:t>
            </a:r>
            <a:r>
              <a:rPr lang="en-US" dirty="0"/>
              <a:t> In many rule-based systems, the user interface allows users to interact with the system, input data, and receive outputs or recommendations.</a:t>
            </a:r>
          </a:p>
          <a:p>
            <a:endParaRPr lang="en-US" dirty="0"/>
          </a:p>
        </p:txBody>
      </p:sp>
    </p:spTree>
    <p:extLst>
      <p:ext uri="{BB962C8B-B14F-4D97-AF65-F5344CB8AC3E}">
        <p14:creationId xmlns:p14="http://schemas.microsoft.com/office/powerpoint/2010/main" val="3928506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F442B-72D2-FE7F-F46B-D89E645BE901}"/>
              </a:ext>
            </a:extLst>
          </p:cNvPr>
          <p:cNvSpPr>
            <a:spLocks noGrp="1"/>
          </p:cNvSpPr>
          <p:nvPr>
            <p:ph type="title"/>
          </p:nvPr>
        </p:nvSpPr>
        <p:spPr/>
        <p:txBody>
          <a:bodyPr/>
          <a:lstStyle/>
          <a:p>
            <a:endParaRPr lang="en-US"/>
          </a:p>
        </p:txBody>
      </p:sp>
      <p:pic>
        <p:nvPicPr>
          <p:cNvPr id="1026" name="Picture 2" descr="working">
            <a:extLst>
              <a:ext uri="{FF2B5EF4-FFF2-40B4-BE49-F238E27FC236}">
                <a16:creationId xmlns:a16="http://schemas.microsoft.com/office/drawing/2014/main" id="{56A678AB-99E4-4E7F-CE52-549D9FE681D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67237" y="2377281"/>
            <a:ext cx="3057525" cy="3248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697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969C9-CD2F-D331-ABDA-56B8A3589986}"/>
              </a:ext>
            </a:extLst>
          </p:cNvPr>
          <p:cNvSpPr>
            <a:spLocks noGrp="1"/>
          </p:cNvSpPr>
          <p:nvPr>
            <p:ph type="title"/>
          </p:nvPr>
        </p:nvSpPr>
        <p:spPr/>
        <p:txBody>
          <a:bodyPr/>
          <a:lstStyle/>
          <a:p>
            <a:r>
              <a:rPr lang="en-US" b="1" dirty="0"/>
              <a:t>How Rule-Based Systems Work?</a:t>
            </a:r>
            <a:br>
              <a:rPr lang="en-US" b="1" dirty="0"/>
            </a:br>
            <a:endParaRPr lang="en-US" dirty="0"/>
          </a:p>
        </p:txBody>
      </p:sp>
      <p:sp>
        <p:nvSpPr>
          <p:cNvPr id="3" name="Content Placeholder 2">
            <a:extLst>
              <a:ext uri="{FF2B5EF4-FFF2-40B4-BE49-F238E27FC236}">
                <a16:creationId xmlns:a16="http://schemas.microsoft.com/office/drawing/2014/main" id="{4A5258FE-A4A7-4672-C3BA-92417492FDE1}"/>
              </a:ext>
            </a:extLst>
          </p:cNvPr>
          <p:cNvSpPr>
            <a:spLocks noGrp="1"/>
          </p:cNvSpPr>
          <p:nvPr>
            <p:ph idx="1"/>
          </p:nvPr>
        </p:nvSpPr>
        <p:spPr>
          <a:xfrm>
            <a:off x="643328" y="1795645"/>
            <a:ext cx="10515600" cy="4351338"/>
          </a:xfrm>
        </p:spPr>
        <p:txBody>
          <a:bodyPr>
            <a:normAutofit fontScale="77500" lnSpcReduction="20000"/>
          </a:bodyPr>
          <a:lstStyle/>
          <a:p>
            <a:pPr fontAlgn="base"/>
            <a:r>
              <a:rPr lang="en-US" dirty="0"/>
              <a:t>The operation of a rule-based system involves several stages:</a:t>
            </a:r>
          </a:p>
          <a:p>
            <a:pPr fontAlgn="base"/>
            <a:r>
              <a:rPr lang="en-US" b="1" dirty="0"/>
              <a:t>Data Input</a:t>
            </a:r>
            <a:r>
              <a:rPr lang="en-US" dirty="0"/>
              <a:t>: The system receives input data from the user or another source. This data can range from simple numerical values to complex information like patient symptoms or transaction records.</a:t>
            </a:r>
          </a:p>
          <a:p>
            <a:pPr fontAlgn="base"/>
            <a:r>
              <a:rPr lang="en-US" b="1" dirty="0"/>
              <a:t>Rule Matching</a:t>
            </a:r>
            <a:r>
              <a:rPr lang="en-US" dirty="0"/>
              <a:t>: The inference engine examines the input data against the rules stored in the knowledge base. It looks for rules whose conditions match the input data.</a:t>
            </a:r>
          </a:p>
          <a:p>
            <a:pPr fontAlgn="base"/>
            <a:r>
              <a:rPr lang="en-US" b="1" dirty="0"/>
              <a:t>Rule Execution</a:t>
            </a:r>
            <a:r>
              <a:rPr lang="en-US" dirty="0"/>
              <a:t>: Once a rule is matched, the inference engine executes the corresponding action. This might involve updating the working memory, deriving new facts, or generating an output.</a:t>
            </a:r>
          </a:p>
          <a:p>
            <a:pPr fontAlgn="base"/>
            <a:r>
              <a:rPr lang="en-US" b="1" dirty="0"/>
              <a:t>Conflict Resolution</a:t>
            </a:r>
            <a:r>
              <a:rPr lang="en-US" dirty="0"/>
              <a:t>: In cases where multiple rules are triggered simultaneously, the inference engine uses conflict resolution strategies to determine which rule to apply first. Common strategies include prioritizing rules based on specificity or order of entry.</a:t>
            </a:r>
          </a:p>
          <a:p>
            <a:pPr fontAlgn="base"/>
            <a:r>
              <a:rPr lang="en-US" b="1" dirty="0"/>
              <a:t>Output Generation</a:t>
            </a:r>
            <a:r>
              <a:rPr lang="en-US" dirty="0"/>
              <a:t>: The system generates an output based on the executed rules. This output can be a decision, recommendation, or another form of response.</a:t>
            </a:r>
          </a:p>
          <a:p>
            <a:endParaRPr lang="en-US" dirty="0"/>
          </a:p>
        </p:txBody>
      </p:sp>
    </p:spTree>
    <p:extLst>
      <p:ext uri="{BB962C8B-B14F-4D97-AF65-F5344CB8AC3E}">
        <p14:creationId xmlns:p14="http://schemas.microsoft.com/office/powerpoint/2010/main" val="4175828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FA28-0A33-EAC7-39BF-71041343A4CA}"/>
              </a:ext>
            </a:extLst>
          </p:cNvPr>
          <p:cNvSpPr>
            <a:spLocks noGrp="1"/>
          </p:cNvSpPr>
          <p:nvPr>
            <p:ph type="title"/>
          </p:nvPr>
        </p:nvSpPr>
        <p:spPr/>
        <p:txBody>
          <a:bodyPr/>
          <a:lstStyle/>
          <a:p>
            <a:r>
              <a:rPr lang="en-US" b="1" dirty="0"/>
              <a:t>Example of a Rule-Based System in Action</a:t>
            </a:r>
            <a:br>
              <a:rPr lang="en-US" b="1" dirty="0"/>
            </a:br>
            <a:endParaRPr lang="en-US" dirty="0"/>
          </a:p>
        </p:txBody>
      </p:sp>
      <p:sp>
        <p:nvSpPr>
          <p:cNvPr id="3" name="Content Placeholder 2">
            <a:extLst>
              <a:ext uri="{FF2B5EF4-FFF2-40B4-BE49-F238E27FC236}">
                <a16:creationId xmlns:a16="http://schemas.microsoft.com/office/drawing/2014/main" id="{DEBDACDC-184A-F03D-0BE8-76358A399FAA}"/>
              </a:ext>
            </a:extLst>
          </p:cNvPr>
          <p:cNvSpPr>
            <a:spLocks noGrp="1"/>
          </p:cNvSpPr>
          <p:nvPr>
            <p:ph idx="1"/>
          </p:nvPr>
        </p:nvSpPr>
        <p:spPr/>
        <p:txBody>
          <a:bodyPr/>
          <a:lstStyle/>
          <a:p>
            <a:pPr fontAlgn="base"/>
            <a:r>
              <a:rPr lang="en-US" dirty="0"/>
              <a:t>Consider a simplified example of a rule-based system used in a customer service chatbot:</a:t>
            </a:r>
          </a:p>
          <a:p>
            <a:pPr fontAlgn="base"/>
            <a:r>
              <a:rPr lang="en-US" b="1" dirty="0"/>
              <a:t>Rule 1</a:t>
            </a:r>
            <a:r>
              <a:rPr lang="en-US" dirty="0"/>
              <a:t>: </a:t>
            </a:r>
            <a:r>
              <a:rPr lang="en-US" i="1" dirty="0"/>
              <a:t>If the customer asks about their account balance, then retrieve and display the current balance.</a:t>
            </a:r>
            <a:endParaRPr lang="en-US" dirty="0"/>
          </a:p>
          <a:p>
            <a:pPr fontAlgn="base"/>
            <a:r>
              <a:rPr lang="en-US" b="1" dirty="0"/>
              <a:t>Rule 2</a:t>
            </a:r>
            <a:r>
              <a:rPr lang="en-US" dirty="0"/>
              <a:t>: </a:t>
            </a:r>
            <a:r>
              <a:rPr lang="en-US" i="1" dirty="0"/>
              <a:t>If the customer asks about recent transactions, then retrieve and display the last five transactions.</a:t>
            </a:r>
            <a:endParaRPr lang="en-US" dirty="0"/>
          </a:p>
          <a:p>
            <a:pPr fontAlgn="base"/>
            <a:r>
              <a:rPr lang="en-US" b="1" dirty="0"/>
              <a:t>Rule 3</a:t>
            </a:r>
            <a:r>
              <a:rPr lang="en-US" dirty="0"/>
              <a:t>: </a:t>
            </a:r>
            <a:r>
              <a:rPr lang="en-US" i="1" dirty="0"/>
              <a:t>If the customer asks to speak to a human agent, then transfer the chat to a human operator.</a:t>
            </a:r>
            <a:endParaRPr lang="en-US" dirty="0"/>
          </a:p>
          <a:p>
            <a:endParaRPr lang="en-US" dirty="0"/>
          </a:p>
        </p:txBody>
      </p:sp>
    </p:spTree>
    <p:extLst>
      <p:ext uri="{BB962C8B-B14F-4D97-AF65-F5344CB8AC3E}">
        <p14:creationId xmlns:p14="http://schemas.microsoft.com/office/powerpoint/2010/main" val="1665593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32126-4D53-E935-A458-8C1E198700A0}"/>
              </a:ext>
            </a:extLst>
          </p:cNvPr>
          <p:cNvSpPr>
            <a:spLocks noGrp="1"/>
          </p:cNvSpPr>
          <p:nvPr>
            <p:ph type="title"/>
          </p:nvPr>
        </p:nvSpPr>
        <p:spPr/>
        <p:txBody>
          <a:bodyPr/>
          <a:lstStyle/>
          <a:p>
            <a:r>
              <a:rPr lang="en-US" b="1" dirty="0"/>
              <a:t>Types of Rule-Based Systems</a:t>
            </a:r>
            <a:br>
              <a:rPr lang="en-US" b="1" dirty="0"/>
            </a:br>
            <a:endParaRPr lang="en-US" dirty="0"/>
          </a:p>
        </p:txBody>
      </p:sp>
      <p:sp>
        <p:nvSpPr>
          <p:cNvPr id="3" name="Content Placeholder 2">
            <a:extLst>
              <a:ext uri="{FF2B5EF4-FFF2-40B4-BE49-F238E27FC236}">
                <a16:creationId xmlns:a16="http://schemas.microsoft.com/office/drawing/2014/main" id="{FCFEED23-9D11-9F25-519A-26044B32962C}"/>
              </a:ext>
            </a:extLst>
          </p:cNvPr>
          <p:cNvSpPr>
            <a:spLocks noGrp="1"/>
          </p:cNvSpPr>
          <p:nvPr>
            <p:ph idx="1"/>
          </p:nvPr>
        </p:nvSpPr>
        <p:spPr/>
        <p:txBody>
          <a:bodyPr>
            <a:normAutofit fontScale="92500" lnSpcReduction="20000"/>
          </a:bodyPr>
          <a:lstStyle/>
          <a:p>
            <a:pPr fontAlgn="base"/>
            <a:r>
              <a:rPr lang="en-US" dirty="0"/>
              <a:t>There are several types of rule-based systems, each tailored to different applications:</a:t>
            </a:r>
          </a:p>
          <a:p>
            <a:pPr fontAlgn="base"/>
            <a:r>
              <a:rPr lang="en-US" b="1" dirty="0"/>
              <a:t>Forward Chaining Systems</a:t>
            </a:r>
            <a:r>
              <a:rPr lang="en-US" dirty="0"/>
              <a:t>: These systems start with the available data and apply rules to infer new data until a goal is reached. Forward chaining is often used in problem-solving and diagnostic systems.</a:t>
            </a:r>
          </a:p>
          <a:p>
            <a:pPr fontAlgn="base"/>
            <a:r>
              <a:rPr lang="en-US" b="1" dirty="0"/>
              <a:t>Backward Chaining Systems</a:t>
            </a:r>
            <a:r>
              <a:rPr lang="en-US" dirty="0"/>
              <a:t>: These systems start with a goal and work backward to determine which rules and data can achieve that goal. Backward chaining is commonly used in expert systems where the goal is to reach a specific diagnosis or conclusion.</a:t>
            </a:r>
          </a:p>
          <a:p>
            <a:pPr fontAlgn="base"/>
            <a:r>
              <a:rPr lang="en-US" b="1" dirty="0"/>
              <a:t>Hybrid Systems</a:t>
            </a:r>
            <a:r>
              <a:rPr lang="en-US" dirty="0"/>
              <a:t>: Some systems combine forward and backward chaining to leverage the strengths of both approaches. Hybrid systems are useful in complex scenarios where both data-driven and goal-driven reasoning are required.</a:t>
            </a:r>
          </a:p>
          <a:p>
            <a:endParaRPr lang="en-US" dirty="0"/>
          </a:p>
        </p:txBody>
      </p:sp>
    </p:spTree>
    <p:extLst>
      <p:ext uri="{BB962C8B-B14F-4D97-AF65-F5344CB8AC3E}">
        <p14:creationId xmlns:p14="http://schemas.microsoft.com/office/powerpoint/2010/main" val="1111043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01FDB-45D0-E47D-FC28-73CC71EBE0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96CDE6-57F2-4B55-F271-18080BCF25E2}"/>
              </a:ext>
            </a:extLst>
          </p:cNvPr>
          <p:cNvSpPr>
            <a:spLocks noGrp="1"/>
          </p:cNvSpPr>
          <p:nvPr>
            <p:ph idx="1"/>
          </p:nvPr>
        </p:nvSpPr>
        <p:spPr/>
        <p:txBody>
          <a:bodyPr>
            <a:normAutofit lnSpcReduction="10000"/>
          </a:bodyPr>
          <a:lstStyle/>
          <a:p>
            <a:pPr fontAlgn="base"/>
            <a:r>
              <a:rPr lang="en-US" b="1" dirty="0"/>
              <a:t>1. Expert Systems</a:t>
            </a:r>
          </a:p>
          <a:p>
            <a:pPr fontAlgn="base"/>
            <a:r>
              <a:rPr lang="en-US" u="sng" dirty="0">
                <a:hlinkClick r:id="rId2"/>
              </a:rPr>
              <a:t>Expert systems</a:t>
            </a:r>
            <a:r>
              <a:rPr lang="en-US" dirty="0"/>
              <a:t> are designed to emulate the decision-making abilities of human experts. They use a large set of rules to make inferences or recommendations.</a:t>
            </a:r>
          </a:p>
          <a:p>
            <a:pPr fontAlgn="base"/>
            <a:r>
              <a:rPr lang="en-US" dirty="0"/>
              <a:t>Applications include:</a:t>
            </a:r>
          </a:p>
          <a:p>
            <a:pPr fontAlgn="base"/>
            <a:r>
              <a:rPr lang="en-US" b="1" dirty="0"/>
              <a:t>Medical Diagnosis:</a:t>
            </a:r>
            <a:r>
              <a:rPr lang="en-US" dirty="0"/>
              <a:t> Systems like MYCIN, an early expert system, assist in diagnosing diseases and recommending treatments based on patient data and medical knowledge.</a:t>
            </a:r>
          </a:p>
          <a:p>
            <a:pPr fontAlgn="base"/>
            <a:r>
              <a:rPr lang="en-US" b="1" dirty="0"/>
              <a:t>Financial Services:</a:t>
            </a:r>
            <a:r>
              <a:rPr lang="en-US" dirty="0"/>
              <a:t> Expert systems can assess credit risks, detect fraud, and provide investment advice.</a:t>
            </a:r>
          </a:p>
          <a:p>
            <a:endParaRPr lang="en-US" dirty="0"/>
          </a:p>
        </p:txBody>
      </p:sp>
    </p:spTree>
    <p:extLst>
      <p:ext uri="{BB962C8B-B14F-4D97-AF65-F5344CB8AC3E}">
        <p14:creationId xmlns:p14="http://schemas.microsoft.com/office/powerpoint/2010/main" val="486822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7B84C-DF08-A60F-0966-BFCBF4A85C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0DE42A-28A7-2D3D-8E91-1EF1808DB960}"/>
              </a:ext>
            </a:extLst>
          </p:cNvPr>
          <p:cNvSpPr>
            <a:spLocks noGrp="1"/>
          </p:cNvSpPr>
          <p:nvPr>
            <p:ph idx="1"/>
          </p:nvPr>
        </p:nvSpPr>
        <p:spPr/>
        <p:txBody>
          <a:bodyPr/>
          <a:lstStyle/>
          <a:p>
            <a:pPr fontAlgn="base"/>
            <a:r>
              <a:rPr lang="en-US" b="1" dirty="0"/>
              <a:t>2. Decision Support Systems</a:t>
            </a:r>
          </a:p>
          <a:p>
            <a:pPr fontAlgn="base"/>
            <a:r>
              <a:rPr lang="en-US" dirty="0"/>
              <a:t>These systems aid decision-making processes by providing relevant information and recommendations based on predefined rules. Examples include:</a:t>
            </a:r>
          </a:p>
          <a:p>
            <a:pPr fontAlgn="base"/>
            <a:r>
              <a:rPr lang="en-US" b="1" dirty="0"/>
              <a:t>Customer Support:</a:t>
            </a:r>
            <a:r>
              <a:rPr lang="en-US" dirty="0"/>
              <a:t> Automated customer support systems use rules to handle common queries and problems, providing quick and consistent responses.</a:t>
            </a:r>
          </a:p>
          <a:p>
            <a:pPr fontAlgn="base"/>
            <a:r>
              <a:rPr lang="en-US" b="1" dirty="0"/>
              <a:t>Manufacturing:</a:t>
            </a:r>
            <a:r>
              <a:rPr lang="en-US" dirty="0"/>
              <a:t> Rule-based systems help in managing production schedules, inventory control, and quality assurance.</a:t>
            </a:r>
          </a:p>
          <a:p>
            <a:endParaRPr lang="en-US" dirty="0"/>
          </a:p>
        </p:txBody>
      </p:sp>
    </p:spTree>
    <p:extLst>
      <p:ext uri="{BB962C8B-B14F-4D97-AF65-F5344CB8AC3E}">
        <p14:creationId xmlns:p14="http://schemas.microsoft.com/office/powerpoint/2010/main" val="2982991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FCA3A-A11A-85E0-2B3C-3E20D648E3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B01AE9-F5D5-4EFC-B77E-5550D58855C5}"/>
              </a:ext>
            </a:extLst>
          </p:cNvPr>
          <p:cNvSpPr>
            <a:spLocks noGrp="1"/>
          </p:cNvSpPr>
          <p:nvPr>
            <p:ph idx="1"/>
          </p:nvPr>
        </p:nvSpPr>
        <p:spPr/>
        <p:txBody>
          <a:bodyPr/>
          <a:lstStyle/>
          <a:p>
            <a:pPr fontAlgn="base"/>
            <a:r>
              <a:rPr lang="en-US" b="1" dirty="0"/>
              <a:t>3. Control Systems</a:t>
            </a:r>
          </a:p>
          <a:p>
            <a:pPr fontAlgn="base"/>
            <a:r>
              <a:rPr lang="en-US" dirty="0"/>
              <a:t>In control systems, rules govern the operation of machinery and equipment. Examples include:</a:t>
            </a:r>
          </a:p>
          <a:p>
            <a:pPr fontAlgn="base"/>
            <a:r>
              <a:rPr lang="en-US" b="1" dirty="0"/>
              <a:t>Automated Traffic Lights:</a:t>
            </a:r>
            <a:r>
              <a:rPr lang="en-US" dirty="0"/>
              <a:t> Rules determine the timing and sequencing of traffic lights based on traffic flow and other factors.</a:t>
            </a:r>
          </a:p>
          <a:p>
            <a:pPr fontAlgn="base"/>
            <a:r>
              <a:rPr lang="en-US" b="1" dirty="0"/>
              <a:t>Home Automation:</a:t>
            </a:r>
            <a:r>
              <a:rPr lang="en-US" dirty="0"/>
              <a:t> Smart home systems use rules to control lighting, heating, and security systems based on user preferences and sensor data.</a:t>
            </a:r>
          </a:p>
          <a:p>
            <a:endParaRPr lang="en-US" dirty="0"/>
          </a:p>
        </p:txBody>
      </p:sp>
    </p:spTree>
    <p:extLst>
      <p:ext uri="{BB962C8B-B14F-4D97-AF65-F5344CB8AC3E}">
        <p14:creationId xmlns:p14="http://schemas.microsoft.com/office/powerpoint/2010/main" val="205834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F2EA7-47E3-F6F6-D653-647D722CC01A}"/>
              </a:ext>
            </a:extLst>
          </p:cNvPr>
          <p:cNvSpPr>
            <a:spLocks noGrp="1"/>
          </p:cNvSpPr>
          <p:nvPr>
            <p:ph type="title"/>
          </p:nvPr>
        </p:nvSpPr>
        <p:spPr/>
        <p:txBody>
          <a:bodyPr/>
          <a:lstStyle/>
          <a:p>
            <a:r>
              <a:rPr lang="en-US" b="1" dirty="0"/>
              <a:t>Benefits of Rule-Based Systems</a:t>
            </a:r>
            <a:br>
              <a:rPr lang="en-US" b="1" dirty="0"/>
            </a:br>
            <a:endParaRPr lang="en-US" dirty="0"/>
          </a:p>
        </p:txBody>
      </p:sp>
      <p:sp>
        <p:nvSpPr>
          <p:cNvPr id="3" name="Content Placeholder 2">
            <a:extLst>
              <a:ext uri="{FF2B5EF4-FFF2-40B4-BE49-F238E27FC236}">
                <a16:creationId xmlns:a16="http://schemas.microsoft.com/office/drawing/2014/main" id="{393805D7-645B-EC53-4D09-133C07340BD4}"/>
              </a:ext>
            </a:extLst>
          </p:cNvPr>
          <p:cNvSpPr>
            <a:spLocks noGrp="1"/>
          </p:cNvSpPr>
          <p:nvPr>
            <p:ph idx="1"/>
          </p:nvPr>
        </p:nvSpPr>
        <p:spPr/>
        <p:txBody>
          <a:bodyPr>
            <a:normAutofit fontScale="92500" lnSpcReduction="10000"/>
          </a:bodyPr>
          <a:lstStyle/>
          <a:p>
            <a:pPr fontAlgn="base"/>
            <a:r>
              <a:rPr lang="en-US" b="1" dirty="0"/>
              <a:t>Transparency</a:t>
            </a:r>
            <a:r>
              <a:rPr lang="en-US" dirty="0"/>
              <a:t>: Rule-based systems are highly transparent because the rules governing their decisions are explicit and understandable. This clarity makes it easier to trace and debug the system’s behavior.</a:t>
            </a:r>
          </a:p>
          <a:p>
            <a:pPr fontAlgn="base"/>
            <a:r>
              <a:rPr lang="en-US" b="1" dirty="0"/>
              <a:t>Ease of Implementation</a:t>
            </a:r>
            <a:r>
              <a:rPr lang="en-US" dirty="0"/>
              <a:t>: For well-defined problems with clear rules, rule-based systems are relatively easy to implement. They do not require extensive data for training, unlike machine learning models.</a:t>
            </a:r>
          </a:p>
          <a:p>
            <a:pPr fontAlgn="base"/>
            <a:r>
              <a:rPr lang="en-US" b="1" dirty="0"/>
              <a:t>Consistency</a:t>
            </a:r>
            <a:r>
              <a:rPr lang="en-US" dirty="0"/>
              <a:t>: Rule-based systems provide consistent responses and decisions as they follow predefined rules. This consistency is crucial in applications where uniformity is essential.</a:t>
            </a:r>
          </a:p>
          <a:p>
            <a:pPr fontAlgn="base"/>
            <a:r>
              <a:rPr lang="en-US" b="1" dirty="0"/>
              <a:t>Ease of Updating</a:t>
            </a:r>
            <a:r>
              <a:rPr lang="en-US" dirty="0"/>
              <a:t>: Rules can be updated or added to adapt to new knowledge or changes in the domain. This flexibility allows the system to evolve with the changing requirements.</a:t>
            </a:r>
          </a:p>
          <a:p>
            <a:endParaRPr lang="en-US" dirty="0"/>
          </a:p>
        </p:txBody>
      </p:sp>
    </p:spTree>
    <p:extLst>
      <p:ext uri="{BB962C8B-B14F-4D97-AF65-F5344CB8AC3E}">
        <p14:creationId xmlns:p14="http://schemas.microsoft.com/office/powerpoint/2010/main" val="3472106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348EE-0274-E4F8-B307-4D8523C6A7F8}"/>
              </a:ext>
            </a:extLst>
          </p:cNvPr>
          <p:cNvSpPr>
            <a:spLocks noGrp="1"/>
          </p:cNvSpPr>
          <p:nvPr>
            <p:ph type="title"/>
          </p:nvPr>
        </p:nvSpPr>
        <p:spPr/>
        <p:txBody>
          <a:bodyPr/>
          <a:lstStyle/>
          <a:p>
            <a:r>
              <a:rPr lang="en-US" b="1" dirty="0"/>
              <a:t>Limitations of Rule-Based Systems</a:t>
            </a:r>
            <a:br>
              <a:rPr lang="en-US" b="1" dirty="0"/>
            </a:br>
            <a:endParaRPr lang="en-US" dirty="0"/>
          </a:p>
        </p:txBody>
      </p:sp>
      <p:sp>
        <p:nvSpPr>
          <p:cNvPr id="3" name="Content Placeholder 2">
            <a:extLst>
              <a:ext uri="{FF2B5EF4-FFF2-40B4-BE49-F238E27FC236}">
                <a16:creationId xmlns:a16="http://schemas.microsoft.com/office/drawing/2014/main" id="{8013FD8A-8E3B-C561-5E8C-800FC8A917E1}"/>
              </a:ext>
            </a:extLst>
          </p:cNvPr>
          <p:cNvSpPr>
            <a:spLocks noGrp="1"/>
          </p:cNvSpPr>
          <p:nvPr>
            <p:ph idx="1"/>
          </p:nvPr>
        </p:nvSpPr>
        <p:spPr/>
        <p:txBody>
          <a:bodyPr>
            <a:normAutofit fontScale="85000" lnSpcReduction="10000"/>
          </a:bodyPr>
          <a:lstStyle/>
          <a:p>
            <a:pPr fontAlgn="base"/>
            <a:r>
              <a:rPr lang="en-US" b="1" dirty="0"/>
              <a:t>Scalability: </a:t>
            </a:r>
            <a:r>
              <a:rPr lang="en-US" dirty="0"/>
              <a:t>As the number of rules grows, rule-based systems can become cumbersome and difficult to manage. The complexity of the rule base may lead to inefficiencies and increased maintenance efforts.</a:t>
            </a:r>
          </a:p>
          <a:p>
            <a:pPr fontAlgn="base"/>
            <a:r>
              <a:rPr lang="en-US" b="1" dirty="0"/>
              <a:t>Lack of Learning Capability</a:t>
            </a:r>
            <a:r>
              <a:rPr lang="en-US" dirty="0"/>
              <a:t>: Rule-based systems do not learn from new data. They rely on predefined rules and cannot adapt or improve based on experience, unlike machine learning systems that can learn and optimize over time.</a:t>
            </a:r>
          </a:p>
          <a:p>
            <a:pPr fontAlgn="base"/>
            <a:r>
              <a:rPr lang="en-US" b="1" dirty="0"/>
              <a:t>Rigidity</a:t>
            </a:r>
            <a:r>
              <a:rPr lang="en-US" dirty="0"/>
              <a:t>: Rule-based systems are inflexible when dealing with ambiguous or incomplete information. They perform best when all conditions are clearly defined, but they struggle with uncertainty and variability.</a:t>
            </a:r>
          </a:p>
          <a:p>
            <a:pPr fontAlgn="base"/>
            <a:r>
              <a:rPr lang="en-US" b="1" dirty="0"/>
              <a:t>Difficulty Handling Complex Problems</a:t>
            </a:r>
            <a:r>
              <a:rPr lang="en-US" dirty="0"/>
              <a:t>: For complex problems with interrelated factors and nuances, rule-based systems may be insufficient. They may not handle intricate patterns or relationships as effectively as advanced AI techniques</a:t>
            </a:r>
          </a:p>
          <a:p>
            <a:endParaRPr lang="en-US" dirty="0"/>
          </a:p>
        </p:txBody>
      </p:sp>
    </p:spTree>
    <p:extLst>
      <p:ext uri="{BB962C8B-B14F-4D97-AF65-F5344CB8AC3E}">
        <p14:creationId xmlns:p14="http://schemas.microsoft.com/office/powerpoint/2010/main" val="359092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8F5B6-BCA5-014B-7EE6-D8CF8A9B57F3}"/>
              </a:ext>
            </a:extLst>
          </p:cNvPr>
          <p:cNvSpPr>
            <a:spLocks noGrp="1"/>
          </p:cNvSpPr>
          <p:nvPr>
            <p:ph type="title"/>
          </p:nvPr>
        </p:nvSpPr>
        <p:spPr/>
        <p:txBody>
          <a:bodyPr/>
          <a:lstStyle/>
          <a:p>
            <a:r>
              <a:rPr lang="en-US" b="1" dirty="0"/>
              <a:t>Conclusion</a:t>
            </a:r>
            <a:br>
              <a:rPr lang="en-US" b="1" dirty="0"/>
            </a:br>
            <a:endParaRPr lang="en-US" dirty="0"/>
          </a:p>
        </p:txBody>
      </p:sp>
      <p:sp>
        <p:nvSpPr>
          <p:cNvPr id="3" name="Content Placeholder 2">
            <a:extLst>
              <a:ext uri="{FF2B5EF4-FFF2-40B4-BE49-F238E27FC236}">
                <a16:creationId xmlns:a16="http://schemas.microsoft.com/office/drawing/2014/main" id="{80B97CAA-45CB-E716-CA8C-A077D28BEEBB}"/>
              </a:ext>
            </a:extLst>
          </p:cNvPr>
          <p:cNvSpPr>
            <a:spLocks noGrp="1"/>
          </p:cNvSpPr>
          <p:nvPr>
            <p:ph idx="1"/>
          </p:nvPr>
        </p:nvSpPr>
        <p:spPr/>
        <p:txBody>
          <a:bodyPr/>
          <a:lstStyle/>
          <a:p>
            <a:pPr fontAlgn="base"/>
            <a:r>
              <a:rPr lang="en-US" dirty="0"/>
              <a:t>Rule-based systems represent a foundational approach in AI, characterized by their reliance on explicit rules and logical reasoning. They offer transparency, consistency, and ease of implementation, making them valuable in various applications, from expert systems to control systems. While they face challenges in scalability, learning capability, and handling complexity, their integration with modern AI techniques can extend their utility and effectiveness.</a:t>
            </a:r>
          </a:p>
          <a:p>
            <a:endParaRPr lang="en-US" dirty="0"/>
          </a:p>
        </p:txBody>
      </p:sp>
    </p:spTree>
    <p:extLst>
      <p:ext uri="{BB962C8B-B14F-4D97-AF65-F5344CB8AC3E}">
        <p14:creationId xmlns:p14="http://schemas.microsoft.com/office/powerpoint/2010/main" val="15163772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1318</Words>
  <Application>Microsoft Office PowerPoint</Application>
  <PresentationFormat>Widescreen</PresentationFormat>
  <Paragraphs>57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Rule-Based Systems in AI IF-Then Rules </vt:lpstr>
      <vt:lpstr>Rule-Based System in AI </vt:lpstr>
      <vt:lpstr>History of Rule-Based Systems in AI </vt:lpstr>
      <vt:lpstr>Components of a Rule-Based System </vt:lpstr>
      <vt:lpstr>PowerPoint Presentation</vt:lpstr>
      <vt:lpstr>How Rule-Based Systems Work? </vt:lpstr>
      <vt:lpstr>Example of a Rule-Based System in Action </vt:lpstr>
      <vt:lpstr>Types of Rule-Based Systems </vt:lpstr>
      <vt:lpstr>PowerPoint Presentation</vt:lpstr>
      <vt:lpstr>PowerPoint Presentation</vt:lpstr>
      <vt:lpstr>PowerPoint Presentation</vt:lpstr>
      <vt:lpstr>Benefits of Rule-Based Systems </vt:lpstr>
      <vt:lpstr>Limitations of Rule-Based Systems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20</cp:revision>
  <dcterms:created xsi:type="dcterms:W3CDTF">2026-02-25T06:40:54Z</dcterms:created>
  <dcterms:modified xsi:type="dcterms:W3CDTF">2026-02-25T06:44:04Z</dcterms:modified>
</cp:coreProperties>
</file>