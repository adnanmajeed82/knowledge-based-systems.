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097C-BAF9-11E6-6904-0FD56A935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F4D69-67D6-11E3-472B-D8B8A35DF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2456B-A9ED-3EA0-6738-B288AC68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A0CA-C6E4-C662-19B0-4CBAB9FF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B5D9F-ADBC-F83F-B420-CE04ABAA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5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2E0-91C7-D10F-C9D2-D2180DE6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554EC-AB8B-86B0-F7F2-1D140634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7FC6E-E8B4-7F1B-6C06-BC2D8059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4C7BF-4008-68A3-1909-3528179C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FD5C2-54A8-8D2B-77CB-DF28301E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5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E736-BE22-0F90-EFE0-F504AC717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36B21-278E-1340-8C1D-F2DB4953A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30608-FA5A-AB05-9CDD-7490F356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961A9-CEC0-D26C-230F-FDB374F7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15FAC-B2C0-ADE2-0F20-69A8822C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1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76CC-FAEF-BF9E-5C28-662123DF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00518-D5E8-9328-295B-DBAB4103E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251C1-B069-60E0-6C9A-BA1DD6F14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9E140-3689-8120-778B-E9400239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45D5D-231E-8EE0-02DD-983D3C0B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F3493-E3B9-C983-060F-898F2EE7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2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1B2B-169F-0248-1386-E0BD262B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0EA41-B329-15D0-B08B-4EA937D8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C8903-1818-D8F4-B496-295B73A65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A09F0-D3D8-AC43-1CCF-9282B568D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D732B-DAD1-A0D1-9466-89C10B0CB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5FA9E-A376-3096-0E6B-6D5F6250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9073B-9AE8-5B24-ED29-58E619D2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3C622-E3F0-16E6-C2A0-29E15ECE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6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5BC1-2652-824C-D1B9-81D88935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BE3C1-1BC0-643D-B5AC-248378CB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5EE21-3122-5534-9318-EF30560C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4A35D-CAF1-30BB-A731-3880F86E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21302-52C8-E943-8FAF-ED7619CF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0CD2-022E-783A-3DA0-D3AE75E1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451AF-58F7-DEFC-1061-2A89D220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0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8D7F-CB1E-34BE-ED12-B225105F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E757-2ABE-7887-9F68-042D55E74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0A131-D9D4-092A-B7B6-C69C45E6D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1C38B-86CC-DD27-184D-D7FC1C38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EEA61-EEF3-D58C-428E-5146FCFDE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7B52E-D2FB-880B-8945-0DBEDFAA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DA16-BD61-1795-D1D4-32E9681F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5D791-5654-6FDA-6CB6-B80801151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D36FE-9183-EC6E-2ACB-B7BC4FE08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337D9-EC07-A560-1922-158EA6F0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942B1-D137-BD6B-4923-70BA0B9F9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7421A-5015-FE9D-3C2E-7E19CAA2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0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D9459-D7F1-64A1-3AB1-BEC6C77E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CC35C-2CFF-40D6-750B-6245C06D5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5E249-46DA-9175-0B89-95E9B60D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D1E62-76C0-A76C-8D54-3649D33A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FC7B6-6779-A647-DA26-210B46FA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91AAE-ACDB-C702-7849-3BB81E24F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0ADA3-DCB4-C8E0-1331-A7862C0C3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FE1DF-B219-AA9E-8CBE-9410B670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FF2C-F6B8-79AF-8FE6-136DC047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94A5C-D740-7010-F313-A62C4506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8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604DF2-7738-A9A1-EE0C-8D3A8244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456D1-E755-57DA-D582-E76A2A49A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8F82F-4DB1-C1B2-6B90-2B96426AB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0C190-AFAF-4D34-83E1-F5F31CA38F40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7BC9-D14F-4508-2DAD-F90DB2AE7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DFD03-FC04-ADF4-5640-CCBDD33F6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2C797-550D-4AFB-A61F-E9DC4ABF5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0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B93888-5174-7C38-6558-D3D27442E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&amp; Researcher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BD6D25-1EC2-0A39-E2B0-584CEC4375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 Engine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96448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2685-F4AE-7CF1-3870-0765B5B1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BB234-AA99-B334-81FF-C390445B4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 to Knowledge Based Systems (KBS)</a:t>
            </a:r>
          </a:p>
          <a:p>
            <a:r>
              <a:rPr lang="en-US" dirty="0"/>
              <a:t>A </a:t>
            </a:r>
            <a:r>
              <a:rPr lang="en-US" b="1" dirty="0"/>
              <a:t>Knowledge Based System</a:t>
            </a:r>
            <a:r>
              <a:rPr lang="en-US" dirty="0"/>
              <a:t> is a computer program that uses knowledge and inference techniques to solve problems that normally require human expertise. These systems are a major application area of </a:t>
            </a:r>
            <a:r>
              <a:rPr lang="en-US" b="1" dirty="0"/>
              <a:t>Artificial Intelligence (AI)</a:t>
            </a:r>
            <a:r>
              <a:rPr lang="en-US" dirty="0"/>
              <a:t>.</a:t>
            </a:r>
          </a:p>
          <a:p>
            <a:r>
              <a:rPr lang="en-US" dirty="0"/>
              <a:t>Key components of a KBS:</a:t>
            </a:r>
          </a:p>
          <a:p>
            <a:r>
              <a:rPr lang="en-US" dirty="0"/>
              <a:t>Knowledge Base</a:t>
            </a:r>
          </a:p>
          <a:p>
            <a:r>
              <a:rPr lang="en-US" dirty="0"/>
              <a:t>Inference Engine</a:t>
            </a:r>
          </a:p>
          <a:p>
            <a:r>
              <a:rPr lang="en-US" dirty="0"/>
              <a:t>User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3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3821-1650-8713-0AE6-5FA347BE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Characteristics: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A7AD9-D3EA-1FA0-9BDC-F635DF6DC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Symbolic Processing</a:t>
            </a:r>
            <a:br>
              <a:rPr lang="en-US" dirty="0"/>
            </a:br>
            <a:r>
              <a:rPr lang="en-US" dirty="0"/>
              <a:t>AI programs manipulate symbols (words, objects, rules) instead of only numbers.</a:t>
            </a:r>
          </a:p>
          <a:p>
            <a:r>
              <a:rPr lang="en-US" b="1" dirty="0"/>
              <a:t>Knowledge-Based</a:t>
            </a:r>
            <a:br>
              <a:rPr lang="en-US" dirty="0"/>
            </a:br>
            <a:r>
              <a:rPr lang="en-US" dirty="0"/>
              <a:t>AI systems store and use knowledge explicitly.</a:t>
            </a:r>
          </a:p>
          <a:p>
            <a:r>
              <a:rPr lang="en-US" b="1" dirty="0"/>
              <a:t>Heuristic Reasoning</a:t>
            </a:r>
            <a:br>
              <a:rPr lang="en-US" dirty="0"/>
            </a:br>
            <a:r>
              <a:rPr lang="en-US" dirty="0"/>
              <a:t>AI programs use rules of thumb to find good solutions efficiently.</a:t>
            </a:r>
          </a:p>
          <a:p>
            <a:r>
              <a:rPr lang="en-US" b="1" dirty="0"/>
              <a:t>Search-Oriented</a:t>
            </a:r>
            <a:br>
              <a:rPr lang="en-US" dirty="0"/>
            </a:br>
            <a:r>
              <a:rPr lang="en-US" dirty="0"/>
              <a:t>Problem solving is done by searching through possible states.</a:t>
            </a:r>
          </a:p>
          <a:p>
            <a:r>
              <a:rPr lang="en-US" b="1" dirty="0"/>
              <a:t>Flexibility</a:t>
            </a:r>
            <a:br>
              <a:rPr lang="en-US" dirty="0"/>
            </a:br>
            <a:r>
              <a:rPr lang="en-US" dirty="0"/>
              <a:t>AI systems can handle incomplete or uncertain information.</a:t>
            </a:r>
          </a:p>
          <a:p>
            <a:r>
              <a:rPr lang="en-US" b="1" dirty="0"/>
              <a:t>Human-like Reasoning</a:t>
            </a:r>
            <a:br>
              <a:rPr lang="en-US" dirty="0"/>
            </a:br>
            <a:r>
              <a:rPr lang="en-US" dirty="0"/>
              <a:t>AI programs attempt to imitate human problem-solving behavior.</a:t>
            </a:r>
          </a:p>
        </p:txBody>
      </p:sp>
    </p:spTree>
    <p:extLst>
      <p:ext uri="{BB962C8B-B14F-4D97-AF65-F5344CB8AC3E}">
        <p14:creationId xmlns:p14="http://schemas.microsoft.com/office/powerpoint/2010/main" val="311450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64FA-4119-C888-22D1-8EDE8811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BEC1-64C8-AF40-04FE-86CF79E9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Symbolic processing is the manipulation of symbols that represent objects, concepts, or relationships rather than numerical values.</a:t>
            </a:r>
          </a:p>
          <a:p>
            <a:r>
              <a:rPr lang="en-US" b="1" dirty="0"/>
              <a:t>Examples of Symbols:</a:t>
            </a:r>
          </a:p>
          <a:p>
            <a:r>
              <a:rPr lang="en-US" dirty="0"/>
              <a:t>Words ("Teacher", "Student")</a:t>
            </a:r>
          </a:p>
          <a:p>
            <a:r>
              <a:rPr lang="en-US" dirty="0"/>
              <a:t>Logical statements</a:t>
            </a:r>
          </a:p>
          <a:p>
            <a:r>
              <a:rPr lang="en-US" dirty="0"/>
              <a:t>Rules and facts</a:t>
            </a:r>
          </a:p>
          <a:p>
            <a:r>
              <a:rPr lang="en-US" b="1" dirty="0"/>
              <a:t>Importance of Symbolic Processing:</a:t>
            </a:r>
          </a:p>
          <a:p>
            <a:r>
              <a:rPr lang="en-US" dirty="0"/>
              <a:t>Enables reasoning and decision-making</a:t>
            </a:r>
          </a:p>
          <a:p>
            <a:r>
              <a:rPr lang="en-US" dirty="0"/>
              <a:t>Supports natural language understanding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9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D856-06D1-6746-67EA-1B50370A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A0F0-4CF2-B5C4-BF42-7773945BB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fever AND cough THEN disease = flu</a:t>
            </a:r>
          </a:p>
        </p:txBody>
      </p:sp>
    </p:spTree>
    <p:extLst>
      <p:ext uri="{BB962C8B-B14F-4D97-AF65-F5344CB8AC3E}">
        <p14:creationId xmlns:p14="http://schemas.microsoft.com/office/powerpoint/2010/main" val="136285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DAF49-8CBA-D663-FE84-34B92249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E0223-ADDC-264B-CCA3-2CB21B5F7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Goals of Knowledge Representation:</a:t>
            </a:r>
          </a:p>
          <a:p>
            <a:r>
              <a:rPr lang="en-US" dirty="0"/>
              <a:t>Express knowledge clearly</a:t>
            </a:r>
          </a:p>
          <a:p>
            <a:r>
              <a:rPr lang="en-US" dirty="0"/>
              <a:t>Support efficient reasoning</a:t>
            </a:r>
          </a:p>
          <a:p>
            <a:r>
              <a:rPr lang="en-US" dirty="0"/>
              <a:t>Allow easy modification</a:t>
            </a:r>
          </a:p>
          <a:p>
            <a:r>
              <a:rPr lang="en-US" b="1" dirty="0"/>
              <a:t>Types of Knowledge:</a:t>
            </a:r>
          </a:p>
          <a:p>
            <a:r>
              <a:rPr lang="en-US" b="1" dirty="0"/>
              <a:t>Declarative Knowledge</a:t>
            </a:r>
            <a:r>
              <a:rPr lang="en-US" dirty="0"/>
              <a:t> – Facts and information</a:t>
            </a:r>
          </a:p>
          <a:p>
            <a:r>
              <a:rPr lang="en-US" b="1" dirty="0"/>
              <a:t>Procedural Knowledge</a:t>
            </a:r>
            <a:r>
              <a:rPr lang="en-US" dirty="0"/>
              <a:t> – How to perform tasks</a:t>
            </a:r>
          </a:p>
          <a:p>
            <a:r>
              <a:rPr lang="en-US" b="1" dirty="0"/>
              <a:t>Meta Knowledge</a:t>
            </a:r>
            <a:r>
              <a:rPr lang="en-US" dirty="0"/>
              <a:t> – Knowledge about 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40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CC4AD-1BE0-E3F1-CEF4-0E78C36A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A408-AC8B-6580-D83B-FE46E3F47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5.1 Logical Representation</a:t>
            </a:r>
          </a:p>
          <a:p>
            <a:r>
              <a:rPr lang="en-US" dirty="0"/>
              <a:t>Uses formal logic such as propositional or predicate logic.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∀x Human(x) → Mortal(x)</a:t>
            </a:r>
          </a:p>
          <a:p>
            <a:r>
              <a:rPr lang="en-US" b="1" dirty="0"/>
              <a:t>5.2 Production Rules</a:t>
            </a:r>
          </a:p>
          <a:p>
            <a:r>
              <a:rPr lang="en-US" dirty="0"/>
              <a:t>Knowledge is represented as IF–THEN rules.</a:t>
            </a:r>
          </a:p>
          <a:p>
            <a:r>
              <a:rPr lang="en-US" dirty="0"/>
              <a:t>IF temperature &gt; 38 THEN fever = true</a:t>
            </a:r>
          </a:p>
        </p:txBody>
      </p:sp>
    </p:spTree>
    <p:extLst>
      <p:ext uri="{BB962C8B-B14F-4D97-AF65-F5344CB8AC3E}">
        <p14:creationId xmlns:p14="http://schemas.microsoft.com/office/powerpoint/2010/main" val="98270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5FA5-492E-6215-DFD8-A22AF544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5.3 Semantic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3111-472B-39E3-410E-649F823E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Represents knowledge using graphs of nodes and links.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Cat → is-a → Animal</a:t>
            </a:r>
          </a:p>
          <a:p>
            <a:r>
              <a:rPr lang="en-US" b="1" dirty="0"/>
              <a:t>5.4 Frames</a:t>
            </a:r>
          </a:p>
          <a:p>
            <a:r>
              <a:rPr lang="en-US" dirty="0"/>
              <a:t>Frames represent objects with attributes and values.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Frame: Student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Roll No</a:t>
            </a:r>
          </a:p>
          <a:p>
            <a:pPr lvl="1"/>
            <a:r>
              <a:rPr lang="en-US" dirty="0"/>
              <a:t>Course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4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E64C-7322-72E4-7CBB-971DD7C4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374C-DE8F-717B-D27A-52FB4006C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6. Search in AI</a:t>
            </a:r>
          </a:p>
          <a:p>
            <a:r>
              <a:rPr lang="en-US" b="1" dirty="0"/>
              <a:t>Definition:</a:t>
            </a:r>
          </a:p>
          <a:p>
            <a:r>
              <a:rPr lang="en-US" dirty="0"/>
              <a:t>Search is the process of finding a solution by exploring possible states of a problem.</a:t>
            </a:r>
          </a:p>
          <a:p>
            <a:r>
              <a:rPr lang="en-US" b="1" dirty="0"/>
              <a:t>Components of Search:</a:t>
            </a:r>
          </a:p>
          <a:p>
            <a:r>
              <a:rPr lang="en-US" dirty="0"/>
              <a:t>Initial State</a:t>
            </a:r>
          </a:p>
          <a:p>
            <a:r>
              <a:rPr lang="en-US" dirty="0"/>
              <a:t>Goal State</a:t>
            </a:r>
          </a:p>
          <a:p>
            <a:r>
              <a:rPr lang="en-US" dirty="0"/>
              <a:t>State Space</a:t>
            </a:r>
          </a:p>
          <a:p>
            <a:r>
              <a:rPr lang="en-US" dirty="0"/>
              <a:t>Operators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0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3DEF-6FF4-E00D-E329-F731CFBF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Search Strategies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C726-EB91-96C2-28F0-9342368B9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7.1 Uninformed (Blind) Search</a:t>
            </a:r>
          </a:p>
          <a:p>
            <a:r>
              <a:rPr lang="en-US" dirty="0"/>
              <a:t>Breadth First Search (BFS)</a:t>
            </a:r>
          </a:p>
          <a:p>
            <a:r>
              <a:rPr lang="en-US" dirty="0"/>
              <a:t>Depth First Search (DFS)</a:t>
            </a:r>
          </a:p>
          <a:p>
            <a:r>
              <a:rPr lang="en-US" b="1" dirty="0"/>
              <a:t>7.2 Informed Search</a:t>
            </a:r>
          </a:p>
          <a:p>
            <a:r>
              <a:rPr lang="en-US" dirty="0"/>
              <a:t>Best First Search</a:t>
            </a:r>
          </a:p>
          <a:p>
            <a:r>
              <a:rPr lang="en-US" dirty="0"/>
              <a:t>A*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43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FF96-E9C2-2A3B-C766-A8F0AF7C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Heuristics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7056-1517-DC51-62BE-7254CE78C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Definition:</a:t>
            </a:r>
          </a:p>
          <a:p>
            <a:r>
              <a:rPr lang="en-US" dirty="0"/>
              <a:t>A heuristic is a rule or method that helps reduce the search space and find solutions faster.</a:t>
            </a:r>
          </a:p>
          <a:p>
            <a:r>
              <a:rPr lang="en-US" b="1" dirty="0"/>
              <a:t>Characteristics of Heuristics:</a:t>
            </a:r>
          </a:p>
          <a:p>
            <a:r>
              <a:rPr lang="en-US" dirty="0"/>
              <a:t>Problem-specific</a:t>
            </a:r>
          </a:p>
          <a:p>
            <a:r>
              <a:rPr lang="en-US" dirty="0"/>
              <a:t>Not guaranteed to be optimal</a:t>
            </a:r>
          </a:p>
          <a:p>
            <a:r>
              <a:rPr lang="en-US" dirty="0"/>
              <a:t>Improves efficiency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In route finding, straight-line distance is used as a heuristic.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19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D8DC-752A-BABB-0AD1-52D54AE7E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5C0E-778E-E410-AEC7-28033FB7F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Heuristic Search</a:t>
            </a:r>
          </a:p>
          <a:p>
            <a:r>
              <a:rPr lang="en-US" dirty="0"/>
              <a:t>Heuristic search uses additional information to guide the search toward the goal.</a:t>
            </a:r>
          </a:p>
          <a:p>
            <a:r>
              <a:rPr lang="en-US" b="1" dirty="0"/>
              <a:t>Common Heuristic Searches:</a:t>
            </a:r>
          </a:p>
          <a:p>
            <a:r>
              <a:rPr lang="en-US" dirty="0"/>
              <a:t>Hill Climbing</a:t>
            </a:r>
          </a:p>
          <a:p>
            <a:r>
              <a:rPr lang="en-US" dirty="0"/>
              <a:t>Greedy Best First Search</a:t>
            </a:r>
          </a:p>
          <a:p>
            <a:r>
              <a:rPr lang="en-US" dirty="0"/>
              <a:t>A* Search</a:t>
            </a:r>
          </a:p>
          <a:p>
            <a:r>
              <a:rPr lang="en-US" b="1" dirty="0"/>
              <a:t>A* Evaluation Function:</a:t>
            </a:r>
          </a:p>
          <a:p>
            <a:r>
              <a:rPr lang="pt-BR" dirty="0"/>
              <a:t>f(n) = g(n) + h(n)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742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37A2-C4B2-27B2-718D-8F6D7461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Knowledge Base in AI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02E4F-2EC5-16CF-24AF-555338AF1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58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knowledge base stores:</a:t>
            </a:r>
          </a:p>
          <a:p>
            <a:r>
              <a:rPr lang="en-US" dirty="0"/>
              <a:t>Facts</a:t>
            </a:r>
          </a:p>
          <a:p>
            <a:r>
              <a:rPr lang="en-US" dirty="0"/>
              <a:t>Rules</a:t>
            </a:r>
          </a:p>
          <a:p>
            <a:r>
              <a:rPr lang="en-US" dirty="0"/>
              <a:t>Relationships</a:t>
            </a:r>
          </a:p>
          <a:p>
            <a:r>
              <a:rPr lang="en-US" dirty="0"/>
              <a:t>It enables the system to:</a:t>
            </a:r>
          </a:p>
          <a:p>
            <a:r>
              <a:rPr lang="en-US" dirty="0"/>
              <a:t>Reason logically</a:t>
            </a:r>
          </a:p>
          <a:p>
            <a:r>
              <a:rPr lang="en-US" dirty="0"/>
              <a:t>Draw conclusions</a:t>
            </a:r>
          </a:p>
          <a:p>
            <a:r>
              <a:rPr lang="en-US" dirty="0"/>
              <a:t>Provide explanations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99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5E48-8994-C89C-7CDF-73806EC4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5133-53E6-E314-84F4-82523A60B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Applications of Knowledge Based Systems</a:t>
            </a:r>
          </a:p>
          <a:p>
            <a:r>
              <a:rPr lang="en-US" dirty="0"/>
              <a:t>Medical diagnosis systems</a:t>
            </a:r>
          </a:p>
          <a:p>
            <a:r>
              <a:rPr lang="en-US" dirty="0"/>
              <a:t>Intelligent tutoring systems</a:t>
            </a:r>
          </a:p>
          <a:p>
            <a:r>
              <a:rPr lang="en-US" dirty="0"/>
              <a:t>Expert systems</a:t>
            </a:r>
          </a:p>
          <a:p>
            <a:r>
              <a:rPr lang="en-US" dirty="0"/>
              <a:t>Decision support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154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3999-551E-C93B-E9C1-D36EF9C2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AF99-1326-D7F7-5B5B-2B39DDF6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Summary</a:t>
            </a:r>
          </a:p>
          <a:p>
            <a:r>
              <a:rPr lang="en-US"/>
              <a:t>Knowledge based systems use symbolic processing, structured knowledge representation, and heuristic search techniques to solve complex problems intelligently. These concepts form the foundation of Artificial Intelligence and Expert Systems.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8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577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Knowledge Base Inference Engine User Interface</vt:lpstr>
      <vt:lpstr>PowerPoint Presentation</vt:lpstr>
      <vt:lpstr>Main Characteristics: </vt:lpstr>
      <vt:lpstr>Symbolic Processing</vt:lpstr>
      <vt:lpstr>PowerPoint Presentation</vt:lpstr>
      <vt:lpstr>Knowledge Representation</vt:lpstr>
      <vt:lpstr>PowerPoint Presentation</vt:lpstr>
      <vt:lpstr>5.3 Semantic Networks</vt:lpstr>
      <vt:lpstr>PowerPoint Presentation</vt:lpstr>
      <vt:lpstr>Types of Search Strategies </vt:lpstr>
      <vt:lpstr>Heuristics </vt:lpstr>
      <vt:lpstr>PowerPoint Presentation</vt:lpstr>
      <vt:lpstr>Role of Knowledge Base in AI Systems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25</cp:revision>
  <dcterms:created xsi:type="dcterms:W3CDTF">2026-01-29T08:46:48Z</dcterms:created>
  <dcterms:modified xsi:type="dcterms:W3CDTF">2026-01-29T08:51:11Z</dcterms:modified>
</cp:coreProperties>
</file>