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F2EF-6021-43AF-488B-D0F54082C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92FC4-1042-A90B-DC1A-E09CA03DF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7A190-2EFE-AF1B-2617-02368FD3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9438-F3EB-41DA-B63A-DA71C3C643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B6763-5946-901D-B2B9-B064A2C4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36646-B6C8-457E-AB5B-EC9DAF86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5B4A-AEFC-4CF0-8B06-C74F7867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3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313E6-3A4B-9AED-7A24-3DB892D5C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157F0-96D8-22BC-C5CC-CC18D8E44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AA012-E1EA-6706-94A6-FDC2DD88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9438-F3EB-41DA-B63A-DA71C3C643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61C08-619F-5075-C206-257B82260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BA6E6-2FE8-9050-3765-2855248E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5B4A-AEFC-4CF0-8B06-C74F7867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6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DD76F-5135-F3B1-359C-A570B0E2C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0B557-D13D-0C3D-A057-11ACB2B9F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0AE67-E79F-5262-7AD1-AE0F73E7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9438-F3EB-41DA-B63A-DA71C3C643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2C2E3-4948-1155-A93D-810CDD612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9EE90-AFA3-5E0A-A49E-387F59C4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5B4A-AEFC-4CF0-8B06-C74F7867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6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CA01-D503-D8CF-1448-42B0AE53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DD8EE-34F0-4B20-FD6B-09EE55D3F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50117-25E1-0F54-E786-3B178CBFF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48106-F262-89C0-58AD-B179AE9D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9438-F3EB-41DA-B63A-DA71C3C643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AFB4D-B5AF-7639-2D06-D4CE99AF0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0A354-828A-ADE7-3708-F24BF834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5B4A-AEFC-4CF0-8B06-C74F7867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7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2E96-7DF7-CB25-8A75-E2D46F93B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F66C9-8D4E-72C5-42C3-DC592E4E2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A7175-6A7E-4923-B713-6AD1B6571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3741E-9D68-F242-551F-2758C747E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ABAB00-1967-E1AA-B302-0329A06BA3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9389B2-AA50-C429-368C-0943B58F2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9438-F3EB-41DA-B63A-DA71C3C643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0EF6F8-397F-DB87-38D9-AF467587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E20DD-BB05-A2BD-C284-DACF2E3D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5B4A-AEFC-4CF0-8B06-C74F7867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8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1764-A736-1051-56D2-06A1EAA6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1E5EE-AB3E-97BF-C991-842451C95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9438-F3EB-41DA-B63A-DA71C3C643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4D705-53FF-7C79-DBA7-4B59173FE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F7286-FD7E-8117-B864-C03DECAC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5B4A-AEFC-4CF0-8B06-C74F7867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71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772A8A-AF27-6864-8447-CE2DC3D5C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9438-F3EB-41DA-B63A-DA71C3C643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7DDD2-CEA3-BF37-0260-277B8C0D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ECD56-D4AF-414F-D690-1B630319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5B4A-AEFC-4CF0-8B06-C74F7867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1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6165-97F4-94BB-928B-812404222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D4EF5-60C9-DA83-A511-2FF5317D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F405B-4647-0306-9E83-666CAA20C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A3759-986D-2B16-B1CC-17193286C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9438-F3EB-41DA-B63A-DA71C3C643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96FDC-FF0B-963C-F92D-BBC1F67D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0AEDF-493A-2BF2-2C94-E057AF03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5B4A-AEFC-4CF0-8B06-C74F7867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6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9AB7-A8BD-59B1-C946-6BEE4796F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1165E7-4B30-44C0-DAA0-D216BEAD7A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C24F9-F281-FD31-E19C-826340BC9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872C5-6A95-BD7A-9E90-3BBD6AC5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9438-F3EB-41DA-B63A-DA71C3C643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D018E-C6EF-0964-0A07-9CCAECADD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432FA-99B0-09E5-D7F1-507FE6B8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5B4A-AEFC-4CF0-8B06-C74F7867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11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118FB-C571-C953-45B4-C0BAB07B9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008D46-D398-1660-FCE5-399B5A040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D8195-7204-6F14-598A-D5570793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9438-F3EB-41DA-B63A-DA71C3C643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66B5C-8B5D-A0F9-189B-6145DFED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1B0D2-0D7E-62BE-C376-7F5FEEF0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5B4A-AEFC-4CF0-8B06-C74F7867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30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E4A7F5-AF54-EBBD-73BE-93F45A9AF2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F9560-32EA-E34B-90C0-D29E75751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E772A-AB1F-0D51-F7A1-D76678B07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9438-F3EB-41DA-B63A-DA71C3C643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78561-22B3-5DD3-FB86-7EE28B93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40012-45B6-376E-22CB-8EFA7660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5B4A-AEFC-4CF0-8B06-C74F7867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62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0F539-3C3D-1998-DA95-65A5AB6F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C19D1-A17B-F184-4A32-84C77D68F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5A750-7BB8-56E3-177A-09FC60048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39438-F3EB-41DA-B63A-DA71C3C643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F5961-B2D2-54D0-2AB3-AD7521F7E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5A670-6713-B69A-6A1B-021B1F84E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D5B4A-AEFC-4CF0-8B06-C74F7867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86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A3275-09E1-9967-D0B8-0AD85DBB5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Lecture: LLM Models &amp; AI Agents in Knowledge-Based Systems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40675-B4CF-9919-F8B9-30ECA83D23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Instructor: Sir Adnan Majeed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554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BFB-E2B4-8B48-8C00-81E164FE5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LLM (Large Language Models)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C42F6-6DAF-0ADA-9401-2827FA0C2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</a:t>
            </a:r>
            <a:r>
              <a:rPr lang="en-US" dirty="0"/>
              <a:t>A </a:t>
            </a:r>
            <a:r>
              <a:rPr lang="en-US" b="1" dirty="0"/>
              <a:t>Large Language Model (LLM)</a:t>
            </a:r>
            <a:r>
              <a:rPr lang="en-US" dirty="0"/>
              <a:t> is an advanced AI system trained on massive datasets to understand, generate, and respond to human language.</a:t>
            </a:r>
          </a:p>
          <a:p>
            <a:r>
              <a:rPr lang="en-US" dirty="0"/>
              <a:t>Examples include models like </a:t>
            </a:r>
            <a:r>
              <a:rPr lang="en-US" b="1" dirty="0"/>
              <a:t>GPT, </a:t>
            </a:r>
            <a:r>
              <a:rPr lang="en-US" b="1" dirty="0" err="1"/>
              <a:t>LLaMA</a:t>
            </a:r>
            <a:r>
              <a:rPr lang="en-US" b="1" dirty="0"/>
              <a:t>, and BERT</a:t>
            </a:r>
            <a:r>
              <a:rPr lang="en-US" dirty="0"/>
              <a:t>.</a:t>
            </a:r>
          </a:p>
          <a:p>
            <a:r>
              <a:rPr lang="en-US" b="1" dirty="0"/>
              <a:t>Key Features:</a:t>
            </a:r>
          </a:p>
          <a:p>
            <a:r>
              <a:rPr lang="en-US" dirty="0"/>
              <a:t>Natural Language Understanding (NLU) </a:t>
            </a:r>
          </a:p>
          <a:p>
            <a:r>
              <a:rPr lang="en-US" dirty="0"/>
              <a:t>Context awareness </a:t>
            </a:r>
          </a:p>
          <a:p>
            <a:r>
              <a:rPr lang="en-US" dirty="0"/>
              <a:t>Text generation (chat, summaries, coding) </a:t>
            </a:r>
          </a:p>
          <a:p>
            <a:r>
              <a:rPr lang="en-US" dirty="0"/>
              <a:t>Knowledge reasoning capability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141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2AAE-1E34-6C63-5D3D-4209620C6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Create Your Own LLM Model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0E30F-C7CB-7EBB-C6D7-420D0C06C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2. </a:t>
            </a:r>
            <a:r>
              <a:rPr lang="en-US" dirty="0"/>
              <a:t>Creating an LLM from scratch is complex, but it can be done in stages:</a:t>
            </a:r>
          </a:p>
          <a:p>
            <a:r>
              <a:rPr lang="en-US" b="1" dirty="0"/>
              <a:t>Step 1: Data Collection</a:t>
            </a:r>
          </a:p>
          <a:p>
            <a:r>
              <a:rPr lang="en-US" dirty="0"/>
              <a:t>Gather large datasets (books, websites, research papers) </a:t>
            </a:r>
          </a:p>
          <a:p>
            <a:r>
              <a:rPr lang="en-US" dirty="0"/>
              <a:t>Clean and preprocess data </a:t>
            </a:r>
          </a:p>
          <a:p>
            <a:r>
              <a:rPr lang="en-US" b="1" dirty="0"/>
              <a:t>Step 2: Choose Model Architecture</a:t>
            </a:r>
          </a:p>
          <a:p>
            <a:r>
              <a:rPr lang="en-US" dirty="0"/>
              <a:t>Transformer-based models (e.g., GPT architecture) </a:t>
            </a:r>
          </a:p>
          <a:p>
            <a:r>
              <a:rPr lang="en-US" dirty="0"/>
              <a:t>Use frameworks like: </a:t>
            </a:r>
          </a:p>
          <a:p>
            <a:pPr lvl="1"/>
            <a:r>
              <a:rPr lang="en-US" dirty="0"/>
              <a:t>TensorFlow </a:t>
            </a:r>
          </a:p>
          <a:p>
            <a:pPr lvl="1"/>
            <a:r>
              <a:rPr lang="en-US" dirty="0" err="1"/>
              <a:t>PyTorch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70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1123-90A6-8B35-67A9-D68A151F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E4B69-B0B1-35F3-65DF-6F1EC3AA7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Step 3: Training the Model</a:t>
            </a:r>
          </a:p>
          <a:p>
            <a:r>
              <a:rPr lang="en-US" dirty="0"/>
              <a:t>Train using GPUs/TPUs </a:t>
            </a:r>
          </a:p>
          <a:p>
            <a:r>
              <a:rPr lang="en-US" dirty="0"/>
              <a:t>Use techniques: </a:t>
            </a:r>
          </a:p>
          <a:p>
            <a:pPr lvl="1"/>
            <a:r>
              <a:rPr lang="en-US" dirty="0"/>
              <a:t>Supervised learning </a:t>
            </a:r>
          </a:p>
          <a:p>
            <a:pPr lvl="1"/>
            <a:r>
              <a:rPr lang="en-US" dirty="0"/>
              <a:t>Self-supervised learning </a:t>
            </a:r>
          </a:p>
          <a:p>
            <a:r>
              <a:rPr lang="en-US" b="1" dirty="0"/>
              <a:t>Step 4: Fine-Tuning</a:t>
            </a:r>
          </a:p>
          <a:p>
            <a:r>
              <a:rPr lang="en-US" dirty="0"/>
              <a:t>Customize model for specific tasks (chatbot, healthcare, business) </a:t>
            </a:r>
          </a:p>
          <a:p>
            <a:r>
              <a:rPr lang="en-US" dirty="0"/>
              <a:t>Use domain-specific datasets </a:t>
            </a:r>
          </a:p>
          <a:p>
            <a:r>
              <a:rPr lang="en-US" b="1" dirty="0"/>
              <a:t>Step 5: Deployment</a:t>
            </a:r>
          </a:p>
          <a:p>
            <a:r>
              <a:rPr lang="en-US" dirty="0"/>
              <a:t>Deploy via APIs or cloud platforms </a:t>
            </a:r>
          </a:p>
          <a:p>
            <a:r>
              <a:rPr lang="en-US" dirty="0"/>
              <a:t>Optimize for performance and cost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9A70-4A5E-0411-B144-F8EADB0A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DE6E2-9D59-66A0-04D2-40BB7C311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Alternative (Recommended for Students):</a:t>
            </a:r>
          </a:p>
          <a:p>
            <a:r>
              <a:rPr lang="en-US" dirty="0"/>
              <a:t>Instead of building from scratch:</a:t>
            </a:r>
          </a:p>
          <a:p>
            <a:r>
              <a:rPr lang="en-US" dirty="0"/>
              <a:t>Use pre-trained models (OpenAI, </a:t>
            </a:r>
            <a:r>
              <a:rPr lang="en-US" dirty="0" err="1"/>
              <a:t>HuggingFace</a:t>
            </a:r>
            <a:r>
              <a:rPr lang="en-US" dirty="0"/>
              <a:t>) </a:t>
            </a:r>
          </a:p>
          <a:p>
            <a:r>
              <a:rPr lang="en-US" dirty="0"/>
              <a:t>Fine-tune them for your application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21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6FC0-ACE3-B38A-E24D-F65F033E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3. How to Create an AI Agent Integrated with LLM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E4ED6-7341-975B-6932-6EE7CFCDE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AI Agent</a:t>
            </a:r>
            <a:r>
              <a:rPr lang="en-US" dirty="0"/>
              <a:t> is a system that:</a:t>
            </a:r>
          </a:p>
          <a:p>
            <a:r>
              <a:rPr lang="en-US" dirty="0"/>
              <a:t>Takes input </a:t>
            </a:r>
          </a:p>
          <a:p>
            <a:r>
              <a:rPr lang="en-US" dirty="0"/>
              <a:t>Makes decisions </a:t>
            </a:r>
          </a:p>
          <a:p>
            <a:r>
              <a:rPr lang="en-US" dirty="0"/>
              <a:t>Performs actions </a:t>
            </a:r>
          </a:p>
          <a:p>
            <a:r>
              <a:rPr lang="en-US" b="1" dirty="0"/>
              <a:t>Components of an AI Agent:</a:t>
            </a:r>
          </a:p>
          <a:p>
            <a:r>
              <a:rPr lang="en-US" b="1" dirty="0"/>
              <a:t>Input Interface</a:t>
            </a:r>
            <a:r>
              <a:rPr lang="en-US" dirty="0"/>
              <a:t> (user query) </a:t>
            </a:r>
          </a:p>
          <a:p>
            <a:r>
              <a:rPr lang="en-US" b="1" dirty="0"/>
              <a:t>LLM Brain</a:t>
            </a:r>
            <a:r>
              <a:rPr lang="en-US" dirty="0"/>
              <a:t> (processing) </a:t>
            </a:r>
          </a:p>
          <a:p>
            <a:r>
              <a:rPr lang="en-US" b="1" dirty="0"/>
              <a:t>Memory Module</a:t>
            </a:r>
            <a:r>
              <a:rPr lang="en-US" dirty="0"/>
              <a:t> </a:t>
            </a:r>
          </a:p>
          <a:p>
            <a:r>
              <a:rPr lang="en-US" b="1" dirty="0"/>
              <a:t>Tools/Actions Module</a:t>
            </a:r>
            <a:r>
              <a:rPr lang="en-US" dirty="0"/>
              <a:t> </a:t>
            </a:r>
          </a:p>
          <a:p>
            <a:r>
              <a:rPr lang="en-US" b="1" dirty="0"/>
              <a:t>Output Interface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378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8CAA6-CC6F-9A21-5797-BB095C914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2610F-ECEF-C4E5-6D40-0B20C743D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Steps to Build AI Agent:</a:t>
            </a:r>
          </a:p>
          <a:p>
            <a:r>
              <a:rPr lang="en-US" dirty="0"/>
              <a:t>Define purpose (e.g., chatbot, assistant, automation tool) </a:t>
            </a:r>
          </a:p>
          <a:p>
            <a:r>
              <a:rPr lang="en-US" dirty="0"/>
              <a:t>Connect LLM via API </a:t>
            </a:r>
          </a:p>
          <a:p>
            <a:r>
              <a:rPr lang="en-US" dirty="0"/>
              <a:t>Add memory (short-term + long-term) </a:t>
            </a:r>
          </a:p>
          <a:p>
            <a:r>
              <a:rPr lang="en-US" dirty="0"/>
              <a:t>Integrate tools: </a:t>
            </a:r>
          </a:p>
          <a:p>
            <a:pPr lvl="1"/>
            <a:r>
              <a:rPr lang="en-US" dirty="0"/>
              <a:t>Database access </a:t>
            </a:r>
          </a:p>
          <a:p>
            <a:pPr lvl="1"/>
            <a:r>
              <a:rPr lang="en-US" dirty="0"/>
              <a:t>APIs </a:t>
            </a:r>
          </a:p>
          <a:p>
            <a:pPr lvl="1"/>
            <a:r>
              <a:rPr lang="en-US" dirty="0"/>
              <a:t>File handling </a:t>
            </a:r>
          </a:p>
          <a:p>
            <a:r>
              <a:rPr lang="en-US" dirty="0"/>
              <a:t>Implement decision logic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723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159A8-F6D9-62A4-74B8-BA0A59272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D6A04-73E0-F5AC-2B32-BCE2AA4CE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Tools &amp; Frameworks:</a:t>
            </a:r>
          </a:p>
          <a:p>
            <a:r>
              <a:rPr lang="en-US" dirty="0" err="1"/>
              <a:t>LangChain</a:t>
            </a:r>
            <a:r>
              <a:rPr lang="en-US" dirty="0"/>
              <a:t> </a:t>
            </a:r>
          </a:p>
          <a:p>
            <a:r>
              <a:rPr lang="en-US" dirty="0" err="1"/>
              <a:t>AutoGPT</a:t>
            </a:r>
            <a:r>
              <a:rPr lang="en-US" dirty="0"/>
              <a:t> </a:t>
            </a:r>
          </a:p>
          <a:p>
            <a:r>
              <a:rPr lang="en-US" dirty="0" err="1"/>
              <a:t>CrewAI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379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45B6-6B7B-B8CC-247C-4A899BA7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70A71-2118-8308-BAEE-591B5A2C2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4. How LLM Works with Your Own AI Agent</a:t>
            </a:r>
          </a:p>
          <a:p>
            <a:r>
              <a:rPr lang="en-US" b="1" dirty="0"/>
              <a:t>Workflow:</a:t>
            </a:r>
          </a:p>
          <a:p>
            <a:r>
              <a:rPr lang="en-US" b="1" dirty="0"/>
              <a:t>User Input</a:t>
            </a:r>
            <a:br>
              <a:rPr lang="en-US" dirty="0"/>
            </a:br>
            <a:r>
              <a:rPr lang="en-US" dirty="0"/>
              <a:t>→ User sends query </a:t>
            </a:r>
          </a:p>
          <a:p>
            <a:r>
              <a:rPr lang="en-US" b="1" dirty="0"/>
              <a:t>Agent Processing</a:t>
            </a:r>
            <a:br>
              <a:rPr lang="en-US" dirty="0"/>
            </a:br>
            <a:r>
              <a:rPr lang="en-US" dirty="0"/>
              <a:t>→ Agent understands task </a:t>
            </a:r>
          </a:p>
          <a:p>
            <a:r>
              <a:rPr lang="en-US" b="1" dirty="0"/>
              <a:t>LLM Interaction</a:t>
            </a:r>
            <a:br>
              <a:rPr lang="en-US" dirty="0"/>
            </a:br>
            <a:r>
              <a:rPr lang="en-US" dirty="0"/>
              <a:t>→ LLM generates response or plan </a:t>
            </a:r>
          </a:p>
          <a:p>
            <a:r>
              <a:rPr lang="en-US" b="1" dirty="0"/>
              <a:t>Tool Execution</a:t>
            </a:r>
            <a:br>
              <a:rPr lang="en-US" dirty="0"/>
            </a:br>
            <a:r>
              <a:rPr lang="en-US" dirty="0"/>
              <a:t>→ Agent may call APIs or perform actions </a:t>
            </a:r>
          </a:p>
          <a:p>
            <a:r>
              <a:rPr lang="en-US" b="1" dirty="0"/>
              <a:t>Response Output</a:t>
            </a:r>
            <a:br>
              <a:rPr lang="en-US" dirty="0"/>
            </a:br>
            <a:r>
              <a:rPr lang="en-US" dirty="0"/>
              <a:t>→ Final result sent to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435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437F7-050E-1068-8BA6-AE9B4979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22D19-2E65-416F-A7EE-735FE74E1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Example:</a:t>
            </a:r>
          </a:p>
          <a:p>
            <a:r>
              <a:rPr lang="en-US" dirty="0"/>
              <a:t>User: "Generate sales report"</a:t>
            </a:r>
          </a:p>
          <a:p>
            <a:r>
              <a:rPr lang="en-US" dirty="0"/>
              <a:t>Agent:</a:t>
            </a:r>
          </a:p>
          <a:p>
            <a:r>
              <a:rPr lang="en-US" dirty="0"/>
              <a:t>Calls LLM → Understands request </a:t>
            </a:r>
          </a:p>
          <a:p>
            <a:r>
              <a:rPr lang="en-US" dirty="0"/>
              <a:t>Fetches data from database </a:t>
            </a:r>
          </a:p>
          <a:p>
            <a:r>
              <a:rPr lang="en-US" dirty="0"/>
              <a:t>Uses LLM to summarize </a:t>
            </a:r>
          </a:p>
          <a:p>
            <a:r>
              <a:rPr lang="en-US" dirty="0"/>
              <a:t>Returns report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643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8F056-6EF0-66CA-D0BC-9824640A2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34036-3595-4B32-054F-94AB2B20B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Working of LLM Model (Internal Mechanism)</a:t>
            </a:r>
          </a:p>
          <a:p>
            <a:r>
              <a:rPr lang="en-US" b="1" dirty="0"/>
              <a:t>Core Concept: Transformer Architecture</a:t>
            </a:r>
          </a:p>
          <a:p>
            <a:r>
              <a:rPr lang="en-US" dirty="0"/>
              <a:t>LLMs work using:</a:t>
            </a:r>
          </a:p>
          <a:p>
            <a:r>
              <a:rPr lang="en-US" dirty="0"/>
              <a:t>Tokens (words split into small parts) </a:t>
            </a:r>
          </a:p>
          <a:p>
            <a:r>
              <a:rPr lang="en-US" dirty="0"/>
              <a:t>Attention mechanism </a:t>
            </a:r>
          </a:p>
          <a:p>
            <a:r>
              <a:rPr lang="en-US" dirty="0"/>
              <a:t>Probability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0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83D6-1808-2493-9391-A63C6F3F1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FCB8B-0332-9CBB-9025-4A8C939E2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Process:</a:t>
            </a:r>
          </a:p>
          <a:p>
            <a:r>
              <a:rPr lang="en-US" dirty="0"/>
              <a:t>Input text → converted into tokens </a:t>
            </a:r>
          </a:p>
          <a:p>
            <a:r>
              <a:rPr lang="en-US" dirty="0"/>
              <a:t>Tokens → processed using attention layers </a:t>
            </a:r>
          </a:p>
          <a:p>
            <a:r>
              <a:rPr lang="en-US" dirty="0"/>
              <a:t>Model predicts next word </a:t>
            </a:r>
          </a:p>
          <a:p>
            <a:r>
              <a:rPr lang="en-US" dirty="0"/>
              <a:t>Output generated step-by-step </a:t>
            </a:r>
          </a:p>
          <a:p>
            <a:r>
              <a:rPr lang="en-US" b="1" dirty="0"/>
              <a:t>Key Techniques:</a:t>
            </a:r>
          </a:p>
          <a:p>
            <a:r>
              <a:rPr lang="en-US" dirty="0"/>
              <a:t>Self-attention </a:t>
            </a:r>
          </a:p>
          <a:p>
            <a:r>
              <a:rPr lang="en-US" dirty="0"/>
              <a:t>Deep neural networks </a:t>
            </a:r>
          </a:p>
          <a:p>
            <a:r>
              <a:rPr lang="en-US" dirty="0"/>
              <a:t>Training on billions of parameters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035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5B8A-C957-5931-D7BA-0B104398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6C6C7-0421-8B1F-3BA9-61A58F865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6. Enhancing Business Efficiency Using LLM + AI Agents</a:t>
            </a:r>
          </a:p>
          <a:p>
            <a:r>
              <a:rPr lang="en-US" dirty="0"/>
              <a:t>LLMs and AI agents can transform businesses:</a:t>
            </a:r>
          </a:p>
          <a:p>
            <a:r>
              <a:rPr lang="en-US" b="1" dirty="0"/>
              <a:t>1. Customer Support Automation</a:t>
            </a:r>
          </a:p>
          <a:p>
            <a:r>
              <a:rPr lang="en-US" dirty="0"/>
              <a:t>Chatbots for 24/7 service </a:t>
            </a:r>
          </a:p>
          <a:p>
            <a:r>
              <a:rPr lang="en-US" dirty="0"/>
              <a:t>Reduce human workload </a:t>
            </a:r>
          </a:p>
          <a:p>
            <a:r>
              <a:rPr lang="en-US" b="1" dirty="0"/>
              <a:t>2. Data Analysis &amp; Reporting</a:t>
            </a:r>
          </a:p>
          <a:p>
            <a:r>
              <a:rPr lang="en-US" dirty="0"/>
              <a:t>Automated report generation </a:t>
            </a:r>
          </a:p>
          <a:p>
            <a:r>
              <a:rPr lang="en-US" dirty="0"/>
              <a:t>Business insights </a:t>
            </a:r>
          </a:p>
          <a:p>
            <a:r>
              <a:rPr lang="en-US" b="1" dirty="0"/>
              <a:t>3. Process Automation</a:t>
            </a:r>
          </a:p>
          <a:p>
            <a:r>
              <a:rPr lang="en-US" dirty="0"/>
              <a:t>Email handling </a:t>
            </a:r>
          </a:p>
          <a:p>
            <a:r>
              <a:rPr lang="en-US" dirty="0"/>
              <a:t>Document processing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403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A6F42-8864-8AFB-C374-408E62A1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8164A-F32B-CB16-4939-5F8B5901C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Decision Making</a:t>
            </a:r>
          </a:p>
          <a:p>
            <a:r>
              <a:rPr lang="en-US" dirty="0"/>
              <a:t>Predict trends </a:t>
            </a:r>
          </a:p>
          <a:p>
            <a:r>
              <a:rPr lang="en-US" dirty="0"/>
              <a:t>Provide recommendations </a:t>
            </a:r>
          </a:p>
          <a:p>
            <a:r>
              <a:rPr lang="en-US" b="1" dirty="0"/>
              <a:t>5. Personalization</a:t>
            </a:r>
          </a:p>
          <a:p>
            <a:r>
              <a:rPr lang="en-US" dirty="0"/>
              <a:t>Customer-specific suggestions </a:t>
            </a:r>
          </a:p>
          <a:p>
            <a:r>
              <a:rPr lang="en-US" dirty="0"/>
              <a:t>Marketing automation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75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BCAE-F6D0-1D5E-6409-3AAED9EE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1396-61E7-0719-F628-C23C96550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Real-World Applications</a:t>
            </a:r>
          </a:p>
          <a:p>
            <a:r>
              <a:rPr lang="en-US" b="1" dirty="0"/>
              <a:t>E-commerce:</a:t>
            </a:r>
            <a:r>
              <a:rPr lang="en-US" dirty="0"/>
              <a:t> Product recommendations </a:t>
            </a:r>
          </a:p>
          <a:p>
            <a:r>
              <a:rPr lang="en-US" b="1" dirty="0"/>
              <a:t>Healthcare:</a:t>
            </a:r>
            <a:r>
              <a:rPr lang="en-US" dirty="0"/>
              <a:t> Patient data analysis </a:t>
            </a:r>
          </a:p>
          <a:p>
            <a:r>
              <a:rPr lang="en-US" b="1" dirty="0"/>
              <a:t>Finance:</a:t>
            </a:r>
            <a:r>
              <a:rPr lang="en-US" dirty="0"/>
              <a:t> Fraud detection </a:t>
            </a:r>
          </a:p>
          <a:p>
            <a:r>
              <a:rPr lang="en-US" b="1" dirty="0"/>
              <a:t>Education:</a:t>
            </a:r>
            <a:r>
              <a:rPr lang="en-US" dirty="0"/>
              <a:t> AI tutors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647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0A9DA-64E9-BADE-6BEE-74D8129C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FD1D5-F410-CD02-F40E-146AC4773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Advantages &amp; Challenges</a:t>
            </a:r>
          </a:p>
          <a:p>
            <a:r>
              <a:rPr lang="en-US" b="1" dirty="0"/>
              <a:t>Advantages:</a:t>
            </a:r>
          </a:p>
          <a:p>
            <a:r>
              <a:rPr lang="en-US" dirty="0"/>
              <a:t>Saves time </a:t>
            </a:r>
          </a:p>
          <a:p>
            <a:r>
              <a:rPr lang="en-US" dirty="0"/>
              <a:t>Improves accuracy </a:t>
            </a:r>
          </a:p>
          <a:p>
            <a:r>
              <a:rPr lang="en-US" dirty="0"/>
              <a:t>Scalable </a:t>
            </a:r>
          </a:p>
          <a:p>
            <a:r>
              <a:rPr lang="en-US" dirty="0"/>
              <a:t>Intelligent automation </a:t>
            </a:r>
          </a:p>
          <a:p>
            <a:r>
              <a:rPr lang="en-US" b="1" dirty="0"/>
              <a:t>Challenges:</a:t>
            </a:r>
          </a:p>
          <a:p>
            <a:r>
              <a:rPr lang="en-US" dirty="0"/>
              <a:t>High computational cost </a:t>
            </a:r>
          </a:p>
          <a:p>
            <a:r>
              <a:rPr lang="en-US" dirty="0"/>
              <a:t>Data privacy issues </a:t>
            </a:r>
          </a:p>
          <a:p>
            <a:r>
              <a:rPr lang="en-US" dirty="0"/>
              <a:t>Bias in training data </a:t>
            </a:r>
          </a:p>
          <a:p>
            <a:r>
              <a:rPr lang="en-US" dirty="0"/>
              <a:t>Requires fine-tuning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579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7B52-7A8C-61D9-D6F3-F508F10AF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7E4B5-C959-7616-D432-CFB25C2E7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9. Conclusion</a:t>
            </a:r>
          </a:p>
          <a:p>
            <a:r>
              <a:rPr lang="en-US" dirty="0"/>
              <a:t>LLMs combined with AI agents are the future of intelligent systems. Instead of just answering questions, they can:</a:t>
            </a:r>
          </a:p>
          <a:p>
            <a:r>
              <a:rPr lang="en-US" dirty="0"/>
              <a:t>Think </a:t>
            </a:r>
          </a:p>
          <a:p>
            <a:r>
              <a:rPr lang="en-US" dirty="0"/>
              <a:t>Act </a:t>
            </a:r>
          </a:p>
          <a:p>
            <a:r>
              <a:rPr lang="en-US" dirty="0"/>
              <a:t>Automate workflows </a:t>
            </a:r>
          </a:p>
          <a:p>
            <a:r>
              <a:rPr lang="en-US" dirty="0"/>
              <a:t>This makes them a core part of </a:t>
            </a:r>
            <a:r>
              <a:rPr lang="en-US" b="1" dirty="0"/>
              <a:t>modern knowledge-based systems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285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C3328-ED74-EB85-BE89-ED3A6A744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22005-A08D-F8F8-17CC-525F36D17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Short Questions (2 Marks Each)</a:t>
            </a:r>
          </a:p>
          <a:p>
            <a:r>
              <a:rPr lang="en-US" dirty="0"/>
              <a:t>What is an LLM? </a:t>
            </a:r>
          </a:p>
          <a:p>
            <a:r>
              <a:rPr lang="en-US" dirty="0"/>
              <a:t>Define AI agent. </a:t>
            </a:r>
          </a:p>
          <a:p>
            <a:r>
              <a:rPr lang="en-US" dirty="0"/>
              <a:t>What is fine-tuning in LLM? </a:t>
            </a:r>
          </a:p>
          <a:p>
            <a:r>
              <a:rPr lang="en-US" dirty="0"/>
              <a:t>Name two tools for building AI agents. </a:t>
            </a:r>
          </a:p>
          <a:p>
            <a:r>
              <a:rPr lang="en-US" dirty="0"/>
              <a:t>What is tokenization? </a:t>
            </a:r>
          </a:p>
          <a:p>
            <a:r>
              <a:rPr lang="en-US" dirty="0"/>
              <a:t>How does an LLM generate text? </a:t>
            </a:r>
          </a:p>
          <a:p>
            <a:r>
              <a:rPr lang="en-US" dirty="0"/>
              <a:t>What is the role of memory in AI agents? </a:t>
            </a:r>
          </a:p>
          <a:p>
            <a:r>
              <a:rPr lang="en-US" dirty="0"/>
              <a:t>Give one business use of LLM.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480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687</Words>
  <Application>Microsoft Office PowerPoint</Application>
  <PresentationFormat>Widescreen</PresentationFormat>
  <Paragraphs>136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Lecture: LLM Models &amp; AI Agents in Knowledge-Based Systems  </vt:lpstr>
      <vt:lpstr>Introduction to LLM (Large Language Models) </vt:lpstr>
      <vt:lpstr>How to Create Your Own LLM Model </vt:lpstr>
      <vt:lpstr>PowerPoint Presentation</vt:lpstr>
      <vt:lpstr>PowerPoint Presentation</vt:lpstr>
      <vt:lpstr>3. How to Create an AI Agent Integrated with LLM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5</cp:revision>
  <dcterms:created xsi:type="dcterms:W3CDTF">2026-03-26T09:38:17Z</dcterms:created>
  <dcterms:modified xsi:type="dcterms:W3CDTF">2026-03-26T10:24:41Z</dcterms:modified>
</cp:coreProperties>
</file>